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7"/>
  </p:notesMasterIdLst>
  <p:sldIdLst>
    <p:sldId id="256" r:id="rId2"/>
    <p:sldId id="265" r:id="rId3"/>
    <p:sldId id="271" r:id="rId4"/>
    <p:sldId id="499" r:id="rId5"/>
    <p:sldId id="518" r:id="rId6"/>
    <p:sldId id="519" r:id="rId7"/>
    <p:sldId id="528" r:id="rId8"/>
    <p:sldId id="529" r:id="rId9"/>
    <p:sldId id="520" r:id="rId10"/>
    <p:sldId id="521" r:id="rId11"/>
    <p:sldId id="530" r:id="rId12"/>
    <p:sldId id="522" r:id="rId13"/>
    <p:sldId id="517" r:id="rId14"/>
    <p:sldId id="523" r:id="rId15"/>
    <p:sldId id="534" r:id="rId16"/>
    <p:sldId id="553" r:id="rId17"/>
    <p:sldId id="554" r:id="rId18"/>
    <p:sldId id="535" r:id="rId19"/>
    <p:sldId id="536" r:id="rId20"/>
    <p:sldId id="555" r:id="rId21"/>
    <p:sldId id="538" r:id="rId22"/>
    <p:sldId id="546" r:id="rId23"/>
    <p:sldId id="539" r:id="rId24"/>
    <p:sldId id="540" r:id="rId25"/>
    <p:sldId id="547" r:id="rId26"/>
    <p:sldId id="541" r:id="rId27"/>
    <p:sldId id="550" r:id="rId28"/>
    <p:sldId id="542" r:id="rId29"/>
    <p:sldId id="548" r:id="rId30"/>
    <p:sldId id="543" r:id="rId31"/>
    <p:sldId id="551" r:id="rId32"/>
    <p:sldId id="544" r:id="rId33"/>
    <p:sldId id="552" r:id="rId34"/>
    <p:sldId id="545" r:id="rId35"/>
    <p:sldId id="270" r:id="rId36"/>
  </p:sldIdLst>
  <p:sldSz cx="12192000" cy="6858000"/>
  <p:notesSz cx="6858000" cy="9144000"/>
  <p:embeddedFontLst>
    <p:embeddedFont>
      <p:font typeface="Proxima Nova" charset="0"/>
      <p:regular r:id="rId38"/>
      <p:bold r:id="rId39"/>
      <p:italic r:id="rId40"/>
      <p:boldItalic r:id="rId41"/>
    </p:embeddedFont>
    <p:embeddedFont>
      <p:font typeface="Cambria" pitchFamily="18" charset="0"/>
      <p:regular r:id="rId42"/>
      <p:bold r:id="rId43"/>
      <p:italic r:id="rId44"/>
      <p:boldItalic r:id="rId45"/>
    </p:embeddedFont>
    <p:embeddedFont>
      <p:font typeface="Wingdings 3" pitchFamily="18" charset="2"/>
      <p:regular r:id="rId46"/>
    </p:embeddedFont>
    <p:embeddedFont>
      <p:font typeface="Comic Sans MS" pitchFamily="66"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5A5A5A"/>
    <a:srgbClr val="EB2546"/>
    <a:srgbClr val="1D6FA9"/>
    <a:srgbClr val="D17B6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04" autoAdjust="0"/>
    <p:restoredTop sz="95033" autoAdjust="0"/>
  </p:normalViewPr>
  <p:slideViewPr>
    <p:cSldViewPr snapToGrid="0">
      <p:cViewPr varScale="1">
        <p:scale>
          <a:sx n="65" d="100"/>
          <a:sy n="65" d="100"/>
        </p:scale>
        <p:origin x="-688" y="-6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xmlns="" val="36873703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814409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4259103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124036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b6c834fc22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b6c834fc22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120635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091005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72114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995550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smtClean="0">
                <a:solidFill>
                  <a:srgbClr val="000000"/>
                </a:solidFill>
                <a:latin typeface="Arial"/>
                <a:ea typeface="Arial"/>
                <a:cs typeface="Arial"/>
                <a:sym typeface="Arial"/>
              </a:rPr>
              <a:t>Congestion Window (</a:t>
            </a:r>
            <a:r>
              <a:rPr lang="en-US" sz="1100" b="0" i="0" u="none" strike="noStrike" cap="none" dirty="0" err="1" smtClean="0">
                <a:solidFill>
                  <a:srgbClr val="000000"/>
                </a:solidFill>
                <a:latin typeface="Arial"/>
                <a:ea typeface="Arial"/>
                <a:cs typeface="Arial"/>
                <a:sym typeface="Arial"/>
              </a:rPr>
              <a:t>cwnd</a:t>
            </a:r>
            <a:r>
              <a:rPr lang="en-US" sz="1100" b="0" i="0" u="none" strike="noStrike" cap="none" dirty="0" smtClean="0">
                <a:solidFill>
                  <a:srgbClr val="000000"/>
                </a:solidFill>
                <a:latin typeface="Arial"/>
                <a:ea typeface="Arial"/>
                <a:cs typeface="Arial"/>
                <a:sym typeface="Arial"/>
              </a:rPr>
              <a:t>) is a TCP state variable that limits the amount of data the TCP can send into the network before receiving an ACK. The Receiver Window (</a:t>
            </a:r>
            <a:r>
              <a:rPr lang="en-US" sz="1100" b="0" i="0" u="none" strike="noStrike" cap="none" dirty="0" err="1" smtClean="0">
                <a:solidFill>
                  <a:srgbClr val="000000"/>
                </a:solidFill>
                <a:latin typeface="Arial"/>
                <a:ea typeface="Arial"/>
                <a:cs typeface="Arial"/>
                <a:sym typeface="Arial"/>
              </a:rPr>
              <a:t>rwnd</a:t>
            </a:r>
            <a:r>
              <a:rPr lang="en-US" sz="1100" b="0" i="0" u="none" strike="noStrike" cap="none" dirty="0" smtClean="0">
                <a:solidFill>
                  <a:srgbClr val="000000"/>
                </a:solidFill>
                <a:latin typeface="Arial"/>
                <a:ea typeface="Arial"/>
                <a:cs typeface="Arial"/>
                <a:sym typeface="Arial"/>
              </a:rPr>
              <a:t>) is a variable that advertises the amount of data that the destination side can receive.</a:t>
            </a:r>
            <a:endParaRPr/>
          </a:p>
        </p:txBody>
      </p:sp>
    </p:spTree>
    <p:extLst>
      <p:ext uri="{BB962C8B-B14F-4D97-AF65-F5344CB8AC3E}">
        <p14:creationId xmlns:p14="http://schemas.microsoft.com/office/powerpoint/2010/main" xmlns="" val="3772911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57849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106981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62436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281205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b6c834fc22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b6c834fc22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090508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334929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96352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770706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770706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7707066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939331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939331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4205120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472164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2786004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722819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637182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241980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618152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4837494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936286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1667081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5978408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4101644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6c834fc2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6c834fc2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3540525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b6c834fc22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b6c834fc22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194331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9801" y="18234"/>
            <a:ext cx="12182193" cy="6857999"/>
          </a:xfrm>
          <a:prstGeom prst="rect">
            <a:avLst/>
          </a:prstGeom>
          <a:noFill/>
          <a:ln>
            <a:noFill/>
          </a:ln>
        </p:spPr>
      </p:pic>
      <p:pic>
        <p:nvPicPr>
          <p:cNvPr id="55" name="Google Shape;55;p13"/>
          <p:cNvPicPr preferRelativeResize="0"/>
          <p:nvPr/>
        </p:nvPicPr>
        <p:blipFill>
          <a:blip r:embed="rId4">
            <a:alphaModFix/>
          </a:blip>
          <a:stretch>
            <a:fillRect/>
          </a:stretch>
        </p:blipFill>
        <p:spPr>
          <a:xfrm>
            <a:off x="6444551" y="2933700"/>
            <a:ext cx="4000500" cy="99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6351" y="6334"/>
            <a:ext cx="12179300" cy="6845300"/>
          </a:xfrm>
          <a:prstGeom prst="rect">
            <a:avLst/>
          </a:prstGeom>
          <a:noFill/>
          <a:ln>
            <a:noFill/>
          </a:ln>
        </p:spPr>
      </p:pic>
      <p:pic>
        <p:nvPicPr>
          <p:cNvPr id="171" name="Google Shape;171;p22"/>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11" name="Google Shape;71;p15"/>
          <p:cNvSpPr txBox="1"/>
          <p:nvPr/>
        </p:nvSpPr>
        <p:spPr>
          <a:xfrm>
            <a:off x="284481" y="1607749"/>
            <a:ext cx="6492240" cy="2462172"/>
          </a:xfrm>
          <a:prstGeom prst="rect">
            <a:avLst/>
          </a:prstGeom>
          <a:noFill/>
          <a:ln>
            <a:noFill/>
          </a:ln>
        </p:spPr>
        <p:txBody>
          <a:bodyPr spcFirstLastPara="1" wrap="square" lIns="121900" tIns="121900" rIns="121900" bIns="121900" anchor="t" anchorCtr="0">
            <a:spAutoFit/>
          </a:bodyPr>
          <a:lstStyle/>
          <a:p>
            <a:pPr lvl="0"/>
            <a:r>
              <a:rPr lang="en-US" sz="4800" b="1" dirty="0">
                <a:solidFill>
                  <a:srgbClr val="666666"/>
                </a:solidFill>
                <a:latin typeface="Proxima Nova"/>
                <a:ea typeface="Proxima Nova"/>
                <a:cs typeface="Proxima Nova"/>
                <a:sym typeface="Proxima Nova"/>
              </a:rPr>
              <a:t>Unit - </a:t>
            </a:r>
            <a:r>
              <a:rPr lang="en-IN" sz="4800" b="1" dirty="0">
                <a:solidFill>
                  <a:srgbClr val="666666"/>
                </a:solidFill>
                <a:latin typeface="Proxima Nova"/>
                <a:ea typeface="Proxima Nova"/>
                <a:cs typeface="Proxima Nova"/>
                <a:sym typeface="Proxima Nova"/>
              </a:rPr>
              <a:t>5</a:t>
            </a:r>
          </a:p>
          <a:p>
            <a:r>
              <a:rPr lang="en-US" sz="4800" b="1" dirty="0">
                <a:solidFill>
                  <a:srgbClr val="666666"/>
                </a:solidFill>
                <a:latin typeface="Proxima Nova"/>
              </a:rPr>
              <a:t>Mobile Transport Layer</a:t>
            </a:r>
          </a:p>
        </p:txBody>
      </p:sp>
      <p:sp>
        <p:nvSpPr>
          <p:cNvPr id="13" name="Google Shape;71;p15"/>
          <p:cNvSpPr txBox="1"/>
          <p:nvPr/>
        </p:nvSpPr>
        <p:spPr>
          <a:xfrm>
            <a:off x="541911" y="966501"/>
            <a:ext cx="4655189" cy="615513"/>
          </a:xfrm>
          <a:prstGeom prst="rect">
            <a:avLst/>
          </a:prstGeom>
          <a:noFill/>
          <a:ln>
            <a:noFill/>
          </a:ln>
        </p:spPr>
        <p:txBody>
          <a:bodyPr spcFirstLastPara="1" wrap="square" lIns="121900" tIns="121900" rIns="121900" bIns="121900" anchor="t" anchorCtr="0">
            <a:spAutoFit/>
          </a:bodyPr>
          <a:lstStyle/>
          <a:p>
            <a:pPr lvl="0"/>
            <a:r>
              <a:rPr lang="en-IN" sz="2400" b="1" dirty="0">
                <a:solidFill>
                  <a:srgbClr val="666666"/>
                </a:solidFill>
                <a:latin typeface="Cambria" panose="02040503050406030204" pitchFamily="18" charset="0"/>
                <a:ea typeface="Cambria" panose="02040503050406030204" pitchFamily="18" charset="0"/>
              </a:rPr>
              <a:t>01CE0701</a:t>
            </a:r>
            <a:r>
              <a:rPr lang="en-IN" sz="2400" b="1" dirty="0">
                <a:solidFill>
                  <a:srgbClr val="666666"/>
                </a:solidFill>
                <a:latin typeface="Cambria" panose="02040503050406030204" pitchFamily="18" charset="0"/>
                <a:ea typeface="Cambria" panose="02040503050406030204" pitchFamily="18" charset="0"/>
                <a:cs typeface="Proxima Nova"/>
                <a:sym typeface="Proxima Nova"/>
              </a:rPr>
              <a:t> – Mobile Computing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IN" sz="3067" b="1" dirty="0">
                <a:solidFill>
                  <a:srgbClr val="00A4B6"/>
                </a:solidFill>
                <a:latin typeface="Proxima Nova"/>
                <a:ea typeface="Proxima Nova"/>
                <a:cs typeface="Proxima Nova"/>
                <a:sym typeface="Proxima Nova"/>
              </a:rPr>
              <a:t>Outline</a:t>
            </a:r>
            <a:endParaRPr sz="3067" b="1" dirty="0">
              <a:solidFill>
                <a:srgbClr val="00A4B6"/>
              </a:solidFill>
              <a:latin typeface="Proxima Nova"/>
              <a:ea typeface="Proxima Nova"/>
              <a:cs typeface="Proxima Nova"/>
              <a:sym typeface="Proxima Nova"/>
            </a:endParaRPr>
          </a:p>
        </p:txBody>
      </p:sp>
      <p:sp>
        <p:nvSpPr>
          <p:cNvPr id="71" name="Google Shape;71;p15"/>
          <p:cNvSpPr txBox="1"/>
          <p:nvPr/>
        </p:nvSpPr>
        <p:spPr>
          <a:xfrm>
            <a:off x="246581" y="966501"/>
            <a:ext cx="11760000" cy="4781590"/>
          </a:xfrm>
          <a:prstGeom prst="rect">
            <a:avLst/>
          </a:prstGeom>
          <a:noFill/>
          <a:ln>
            <a:noFill/>
          </a:ln>
        </p:spPr>
        <p:txBody>
          <a:bodyPr spcFirstLastPara="1" wrap="square" lIns="121900" tIns="121900" rIns="121900" bIns="121900" anchor="t" anchorCtr="0">
            <a:spAutoFit/>
          </a:bodyPr>
          <a:lstStyle/>
          <a:p>
            <a:pPr marL="5381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Overview of Traditional TCP</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Congestion control</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Slow start</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Fast retransmit/fast recovery</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Implications on mobility</a:t>
            </a:r>
          </a:p>
          <a:p>
            <a:pPr marL="5381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Improvement of TCP</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Indirect TCP</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Snoop TCP</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Mobile TCP</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Fast Retransmit/fast recovery</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Time-out freezing</a:t>
            </a:r>
          </a:p>
          <a:p>
            <a:pPr marL="893763" lvl="8" indent="-379413">
              <a:buFont typeface="Arial" panose="020B0604020202020204" pitchFamily="34" charset="0"/>
              <a:buChar char="•"/>
            </a:pPr>
            <a:r>
              <a:rPr lang="en-US" sz="2267" dirty="0">
                <a:latin typeface="Cambria" panose="02040503050406030204" pitchFamily="18" charset="0"/>
                <a:ea typeface="Cambria" panose="02040503050406030204" pitchFamily="18" charset="0"/>
              </a:rPr>
              <a:t>Selective retransmission</a:t>
            </a:r>
          </a:p>
          <a:p>
            <a:pPr marL="893763" lvl="8" indent="-379413">
              <a:buFont typeface="Arial" panose="020B0604020202020204" pitchFamily="34" charset="0"/>
              <a:buChar char="•"/>
            </a:pPr>
            <a:r>
              <a:rPr lang="en-IN" sz="2267" dirty="0">
                <a:latin typeface="Cambria" panose="02040503050406030204" pitchFamily="18" charset="0"/>
                <a:ea typeface="Cambria" panose="02040503050406030204" pitchFamily="18" charset="0"/>
              </a:rPr>
              <a:t>Transaction-oriented TCP</a:t>
            </a:r>
            <a:endParaRPr lang="en-US" sz="2267"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349204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26"/>
          <p:cNvPicPr preferRelativeResize="0"/>
          <p:nvPr/>
        </p:nvPicPr>
        <p:blipFill>
          <a:blip r:embed="rId3">
            <a:alphaModFix/>
          </a:blip>
          <a:stretch>
            <a:fillRect/>
          </a:stretch>
        </p:blipFill>
        <p:spPr>
          <a:xfrm>
            <a:off x="0" y="1"/>
            <a:ext cx="12192000" cy="6852444"/>
          </a:xfrm>
          <a:prstGeom prst="rect">
            <a:avLst/>
          </a:prstGeom>
          <a:noFill/>
          <a:ln>
            <a:noFill/>
          </a:ln>
        </p:spPr>
      </p:pic>
      <p:pic>
        <p:nvPicPr>
          <p:cNvPr id="220" name="Google Shape;220;p26"/>
          <p:cNvPicPr preferRelativeResize="0"/>
          <p:nvPr/>
        </p:nvPicPr>
        <p:blipFill>
          <a:blip r:embed="rId4">
            <a:alphaModFix/>
          </a:blip>
          <a:stretch>
            <a:fillRect/>
          </a:stretch>
        </p:blipFill>
        <p:spPr>
          <a:xfrm>
            <a:off x="6351" y="6334"/>
            <a:ext cx="12179300" cy="6845300"/>
          </a:xfrm>
          <a:prstGeom prst="rect">
            <a:avLst/>
          </a:prstGeom>
          <a:noFill/>
          <a:ln>
            <a:noFill/>
          </a:ln>
        </p:spPr>
      </p:pic>
      <p:sp>
        <p:nvSpPr>
          <p:cNvPr id="221" name="Google Shape;221;p26"/>
          <p:cNvSpPr txBox="1"/>
          <p:nvPr/>
        </p:nvSpPr>
        <p:spPr>
          <a:xfrm>
            <a:off x="203201" y="1173670"/>
            <a:ext cx="8514080" cy="2092840"/>
          </a:xfrm>
          <a:prstGeom prst="rect">
            <a:avLst/>
          </a:prstGeom>
          <a:noFill/>
          <a:ln>
            <a:noFill/>
          </a:ln>
        </p:spPr>
        <p:txBody>
          <a:bodyPr spcFirstLastPara="1" wrap="square" lIns="121900" tIns="121900" rIns="121900" bIns="121900" anchor="t" anchorCtr="0">
            <a:spAutoFit/>
          </a:bodyPr>
          <a:lstStyle/>
          <a:p>
            <a:pPr lvl="0"/>
            <a:r>
              <a:rPr lang="en-IN" sz="6000" b="1" dirty="0">
                <a:solidFill>
                  <a:schemeClr val="dk2"/>
                </a:solidFill>
                <a:latin typeface="Proxima Nova"/>
                <a:ea typeface="Proxima Nova"/>
                <a:cs typeface="Proxima Nova"/>
                <a:sym typeface="Proxima Nova"/>
              </a:rPr>
              <a:t>Overview of Traditional TCP</a:t>
            </a:r>
          </a:p>
        </p:txBody>
      </p:sp>
      <p:pic>
        <p:nvPicPr>
          <p:cNvPr id="225" name="Google Shape;225;p26"/>
          <p:cNvPicPr preferRelativeResize="0"/>
          <p:nvPr/>
        </p:nvPicPr>
        <p:blipFill>
          <a:blip r:embed="rId5">
            <a:alphaModFix/>
          </a:blip>
          <a:stretch>
            <a:fillRect/>
          </a:stretch>
        </p:blipFill>
        <p:spPr>
          <a:xfrm>
            <a:off x="9817918" y="198118"/>
            <a:ext cx="1993900" cy="495300"/>
          </a:xfrm>
          <a:prstGeom prst="rect">
            <a:avLst/>
          </a:prstGeom>
          <a:noFill/>
          <a:ln>
            <a:noFill/>
          </a:ln>
        </p:spPr>
      </p:pic>
    </p:spTree>
    <p:extLst>
      <p:ext uri="{BB962C8B-B14F-4D97-AF65-F5344CB8AC3E}">
        <p14:creationId xmlns:p14="http://schemas.microsoft.com/office/powerpoint/2010/main" xmlns="" val="313763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Introduction of TCP</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latin typeface="Cambria" panose="02040503050406030204" pitchFamily="18" charset="0"/>
                <a:ea typeface="Cambria" panose="02040503050406030204" pitchFamily="18" charset="0"/>
              </a:rPr>
              <a:t>TCP stands for </a:t>
            </a:r>
            <a:r>
              <a:rPr lang="en-US" dirty="0">
                <a:solidFill>
                  <a:srgbClr val="0070C0"/>
                </a:solidFill>
                <a:latin typeface="Cambria" panose="02040503050406030204" pitchFamily="18" charset="0"/>
                <a:ea typeface="Cambria" panose="02040503050406030204" pitchFamily="18" charset="0"/>
              </a:rPr>
              <a:t>Transmission Control Protocol</a:t>
            </a:r>
            <a:r>
              <a:rPr lang="en-US" dirty="0">
                <a:latin typeface="Cambria" panose="02040503050406030204" pitchFamily="18" charset="0"/>
                <a:ea typeface="Cambria" panose="02040503050406030204" pitchFamily="18" charset="0"/>
              </a:rPr>
              <a:t>.</a:t>
            </a:r>
          </a:p>
          <a:p>
            <a:pPr fontAlgn="base"/>
            <a:r>
              <a:rPr lang="en-US" dirty="0">
                <a:latin typeface="Cambria" panose="02040503050406030204" pitchFamily="18" charset="0"/>
                <a:ea typeface="Cambria" panose="02040503050406030204" pitchFamily="18" charset="0"/>
              </a:rPr>
              <a:t>TCP is the </a:t>
            </a:r>
            <a:r>
              <a:rPr lang="en-US" dirty="0">
                <a:solidFill>
                  <a:srgbClr val="0070C0"/>
                </a:solidFill>
                <a:latin typeface="Cambria" panose="02040503050406030204" pitchFamily="18" charset="0"/>
                <a:ea typeface="Cambria" panose="02040503050406030204" pitchFamily="18" charset="0"/>
              </a:rPr>
              <a:t>transport layer protocol </a:t>
            </a:r>
            <a:r>
              <a:rPr lang="en-US" dirty="0">
                <a:latin typeface="Cambria" panose="02040503050406030204" pitchFamily="18" charset="0"/>
                <a:ea typeface="Cambria" panose="02040503050406030204" pitchFamily="18" charset="0"/>
              </a:rPr>
              <a:t>that serves as an </a:t>
            </a:r>
            <a:r>
              <a:rPr lang="en-US" dirty="0">
                <a:solidFill>
                  <a:srgbClr val="0070C0"/>
                </a:solidFill>
                <a:latin typeface="Cambria" panose="02040503050406030204" pitchFamily="18" charset="0"/>
                <a:ea typeface="Cambria" panose="02040503050406030204" pitchFamily="18" charset="0"/>
              </a:rPr>
              <a:t>interface</a:t>
            </a:r>
            <a:r>
              <a:rPr lang="en-US" dirty="0">
                <a:latin typeface="Cambria" panose="02040503050406030204" pitchFamily="18" charset="0"/>
                <a:ea typeface="Cambria" panose="02040503050406030204" pitchFamily="18" charset="0"/>
              </a:rPr>
              <a:t> between client and server. </a:t>
            </a:r>
          </a:p>
          <a:p>
            <a:pPr fontAlgn="base"/>
            <a:r>
              <a:rPr lang="en-US" dirty="0">
                <a:latin typeface="Cambria" panose="02040503050406030204" pitchFamily="18" charset="0"/>
                <a:ea typeface="Cambria" panose="02040503050406030204" pitchFamily="18" charset="0"/>
              </a:rPr>
              <a:t>The TCP/IP protocol is used to transfer the data packets between transport layer and network layer.</a:t>
            </a:r>
          </a:p>
          <a:p>
            <a:pPr fontAlgn="base"/>
            <a:r>
              <a:rPr lang="en-US" dirty="0">
                <a:latin typeface="Cambria" panose="02040503050406030204" pitchFamily="18" charset="0"/>
                <a:ea typeface="Cambria" panose="02040503050406030204" pitchFamily="18" charset="0"/>
              </a:rPr>
              <a:t>TCP protocol is used for </a:t>
            </a:r>
            <a:r>
              <a:rPr lang="en-US" dirty="0">
                <a:solidFill>
                  <a:srgbClr val="0070C0"/>
                </a:solidFill>
                <a:latin typeface="Cambria" panose="02040503050406030204" pitchFamily="18" charset="0"/>
                <a:ea typeface="Cambria" panose="02040503050406030204" pitchFamily="18" charset="0"/>
              </a:rPr>
              <a:t>process to process </a:t>
            </a:r>
            <a:r>
              <a:rPr lang="en-US" dirty="0">
                <a:latin typeface="Cambria" panose="02040503050406030204" pitchFamily="18" charset="0"/>
                <a:ea typeface="Cambria" panose="02040503050406030204" pitchFamily="18" charset="0"/>
              </a:rPr>
              <a:t>to delivery in network.</a:t>
            </a:r>
          </a:p>
          <a:p>
            <a:pPr fontAlgn="base"/>
            <a:r>
              <a:rPr lang="en-US" dirty="0">
                <a:latin typeface="Cambria" panose="02040503050406030204" pitchFamily="18" charset="0"/>
                <a:ea typeface="Cambria" panose="02040503050406030204" pitchFamily="18" charset="0"/>
              </a:rPr>
              <a:t>IP protocol is used for </a:t>
            </a:r>
            <a:r>
              <a:rPr lang="en-US" dirty="0">
                <a:solidFill>
                  <a:srgbClr val="0070C0"/>
                </a:solidFill>
                <a:latin typeface="Cambria" panose="02040503050406030204" pitchFamily="18" charset="0"/>
                <a:ea typeface="Cambria" panose="02040503050406030204" pitchFamily="18" charset="0"/>
              </a:rPr>
              <a:t>host to host </a:t>
            </a:r>
            <a:r>
              <a:rPr lang="en-US" dirty="0">
                <a:latin typeface="Cambria" panose="02040503050406030204" pitchFamily="18" charset="0"/>
                <a:ea typeface="Cambria" panose="02040503050406030204" pitchFamily="18" charset="0"/>
              </a:rPr>
              <a:t>delivery in network.</a:t>
            </a:r>
          </a:p>
          <a:p>
            <a:pPr fontAlgn="base"/>
            <a:r>
              <a:rPr lang="en-US" dirty="0">
                <a:latin typeface="Cambria" panose="02040503050406030204" pitchFamily="18" charset="0"/>
                <a:ea typeface="Cambria" panose="02040503050406030204" pitchFamily="18" charset="0"/>
              </a:rPr>
              <a:t>Transport protocol is mainly designed for </a:t>
            </a:r>
            <a:r>
              <a:rPr lang="en-US" dirty="0">
                <a:solidFill>
                  <a:srgbClr val="0070C0"/>
                </a:solidFill>
                <a:latin typeface="Cambria" panose="02040503050406030204" pitchFamily="18" charset="0"/>
                <a:ea typeface="Cambria" panose="02040503050406030204" pitchFamily="18" charset="0"/>
              </a:rPr>
              <a:t>fixed end systems </a:t>
            </a:r>
            <a:r>
              <a:rPr lang="en-US" dirty="0">
                <a:latin typeface="Cambria" panose="02040503050406030204" pitchFamily="18" charset="0"/>
                <a:ea typeface="Cambria" panose="02040503050406030204" pitchFamily="18" charset="0"/>
              </a:rPr>
              <a:t>in </a:t>
            </a:r>
            <a:r>
              <a:rPr lang="en-US" dirty="0">
                <a:solidFill>
                  <a:srgbClr val="0070C0"/>
                </a:solidFill>
                <a:latin typeface="Cambria" panose="02040503050406030204" pitchFamily="18" charset="0"/>
                <a:ea typeface="Cambria" panose="02040503050406030204" pitchFamily="18" charset="0"/>
              </a:rPr>
              <a:t>wired networks</a:t>
            </a:r>
            <a:r>
              <a:rPr lang="en-US" dirty="0">
                <a:latin typeface="Cambria" panose="02040503050406030204" pitchFamily="18" charset="0"/>
                <a:ea typeface="Cambria" panose="02040503050406030204" pitchFamily="18" charset="0"/>
              </a:rPr>
              <a:t>. </a:t>
            </a:r>
          </a:p>
          <a:p>
            <a:pPr fontAlgn="base"/>
            <a:r>
              <a:rPr lang="en-US" dirty="0">
                <a:latin typeface="Cambria" panose="02040503050406030204" pitchFamily="18" charset="0"/>
                <a:ea typeface="Cambria" panose="02040503050406030204" pitchFamily="18" charset="0"/>
              </a:rPr>
              <a:t>In simple terms, the traditional TCP is defined as a wired network while classical TCP uses wireless approach.</a:t>
            </a:r>
          </a:p>
        </p:txBody>
      </p:sp>
    </p:spTree>
    <p:extLst>
      <p:ext uri="{BB962C8B-B14F-4D97-AF65-F5344CB8AC3E}">
        <p14:creationId xmlns:p14="http://schemas.microsoft.com/office/powerpoint/2010/main" xmlns="" val="618995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Traditional TCP</a:t>
            </a: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latin typeface="Cambria" panose="02040503050406030204" pitchFamily="18" charset="0"/>
                <a:ea typeface="Cambria" panose="02040503050406030204" pitchFamily="18" charset="0"/>
              </a:rPr>
              <a:t>Mechanisms that influence the efficiency of TCP in a mobile environment:</a:t>
            </a:r>
          </a:p>
          <a:p>
            <a:pPr marL="538163" fontAlgn="base">
              <a:buFont typeface="Arial" panose="020B0604020202020204" pitchFamily="34" charset="0"/>
              <a:buChar char="•"/>
            </a:pPr>
            <a:r>
              <a:rPr lang="en-US" dirty="0">
                <a:latin typeface="Cambria" panose="02040503050406030204" pitchFamily="18" charset="0"/>
                <a:ea typeface="Cambria" panose="02040503050406030204" pitchFamily="18" charset="0"/>
              </a:rPr>
              <a:t>Congestion control</a:t>
            </a:r>
          </a:p>
          <a:p>
            <a:pPr marL="538163" fontAlgn="base">
              <a:buFont typeface="Arial" panose="020B0604020202020204" pitchFamily="34" charset="0"/>
              <a:buChar char="•"/>
            </a:pPr>
            <a:r>
              <a:rPr lang="en-US" dirty="0">
                <a:latin typeface="Cambria" panose="02040503050406030204" pitchFamily="18" charset="0"/>
                <a:ea typeface="Cambria" panose="02040503050406030204" pitchFamily="18" charset="0"/>
              </a:rPr>
              <a:t>Slow start</a:t>
            </a:r>
          </a:p>
          <a:p>
            <a:pPr marL="538163" fontAlgn="base">
              <a:buFont typeface="Arial" panose="020B0604020202020204" pitchFamily="34" charset="0"/>
              <a:buChar char="•"/>
            </a:pPr>
            <a:r>
              <a:rPr lang="en-US" dirty="0">
                <a:latin typeface="Cambria" panose="02040503050406030204" pitchFamily="18" charset="0"/>
                <a:ea typeface="Cambria" panose="02040503050406030204" pitchFamily="18" charset="0"/>
              </a:rPr>
              <a:t>Fast retransmit/fast recovery</a:t>
            </a:r>
          </a:p>
          <a:p>
            <a:pPr marL="538163" fontAlgn="base">
              <a:buFont typeface="Arial" panose="020B0604020202020204" pitchFamily="34" charset="0"/>
              <a:buChar char="•"/>
            </a:pPr>
            <a:r>
              <a:rPr lang="en-US" dirty="0">
                <a:latin typeface="Cambria" panose="02040503050406030204" pitchFamily="18" charset="0"/>
                <a:ea typeface="Cambria" panose="02040503050406030204" pitchFamily="18" charset="0"/>
              </a:rPr>
              <a:t>Implications on mobility</a:t>
            </a:r>
          </a:p>
        </p:txBody>
      </p:sp>
    </p:spTree>
    <p:extLst>
      <p:ext uri="{BB962C8B-B14F-4D97-AF65-F5344CB8AC3E}">
        <p14:creationId xmlns:p14="http://schemas.microsoft.com/office/powerpoint/2010/main" xmlns="" val="216930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wipe(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wipe(left)">
                                      <p:cBhvr>
                                        <p:cTn id="27"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Congestion Control</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latin typeface="Cambria" panose="02040503050406030204" pitchFamily="18" charset="0"/>
                <a:ea typeface="Cambria" panose="02040503050406030204" pitchFamily="18" charset="0"/>
              </a:rPr>
              <a:t>TCP has been designed for wired networks with fixed end-systems.</a:t>
            </a:r>
          </a:p>
          <a:p>
            <a:pPr fontAlgn="base"/>
            <a:r>
              <a:rPr lang="en-US" dirty="0">
                <a:latin typeface="Cambria" panose="02040503050406030204" pitchFamily="18" charset="0"/>
                <a:ea typeface="Cambria" panose="02040503050406030204" pitchFamily="18" charset="0"/>
              </a:rPr>
              <a:t>Hardware and software are mature enough to ensure reliability of data. </a:t>
            </a:r>
          </a:p>
          <a:p>
            <a:pPr fontAlgn="base"/>
            <a:r>
              <a:rPr lang="en-US" dirty="0">
                <a:latin typeface="Cambria" panose="02040503050406030204" pitchFamily="18" charset="0"/>
                <a:ea typeface="Cambria" panose="02040503050406030204" pitchFamily="18" charset="0"/>
              </a:rPr>
              <a:t>The probable reason for a packet loss in a fixed network is a temporary overload some point in the transmission path, i.e., a state of congestion at a node.</a:t>
            </a:r>
          </a:p>
          <a:p>
            <a:pPr fontAlgn="base"/>
            <a:r>
              <a:rPr lang="en-US" dirty="0">
                <a:latin typeface="Cambria" panose="02040503050406030204" pitchFamily="18" charset="0"/>
                <a:ea typeface="Cambria" panose="02040503050406030204" pitchFamily="18" charset="0"/>
              </a:rPr>
              <a:t>The packet buffers of a router are filled and the router cannot forward the packets fast enough.</a:t>
            </a:r>
          </a:p>
          <a:p>
            <a:pPr fontAlgn="base"/>
            <a:r>
              <a:rPr lang="en-US" dirty="0">
                <a:latin typeface="Cambria" panose="02040503050406030204" pitchFamily="18" charset="0"/>
                <a:ea typeface="Cambria" panose="02040503050406030204" pitchFamily="18" charset="0"/>
              </a:rPr>
              <a:t>The only thing a router can do in this situation is to drop packets.</a:t>
            </a:r>
          </a:p>
          <a:p>
            <a:pPr fontAlgn="base"/>
            <a:r>
              <a:rPr lang="en-US" dirty="0">
                <a:latin typeface="Cambria" panose="02040503050406030204" pitchFamily="18" charset="0"/>
                <a:ea typeface="Cambria" panose="02040503050406030204" pitchFamily="18" charset="0"/>
              </a:rPr>
              <a:t>The sender notices the missing acknowledgement for the lost packet and assumes a packet loss due to congestion.</a:t>
            </a:r>
          </a:p>
          <a:p>
            <a:pPr fontAlgn="base"/>
            <a:r>
              <a:rPr lang="en-US" dirty="0">
                <a:latin typeface="Cambria" panose="02040503050406030204" pitchFamily="18" charset="0"/>
                <a:ea typeface="Cambria" panose="02040503050406030204" pitchFamily="18" charset="0"/>
              </a:rPr>
              <a:t>Retransmitting the missing packet and continuing at full sending rate would now be unwise, as this might only increase the congestion.</a:t>
            </a:r>
          </a:p>
        </p:txBody>
      </p:sp>
    </p:spTree>
    <p:extLst>
      <p:ext uri="{BB962C8B-B14F-4D97-AF65-F5344CB8AC3E}">
        <p14:creationId xmlns:p14="http://schemas.microsoft.com/office/powerpoint/2010/main" xmlns="" val="871072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Slow Start</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latin typeface="Cambria" panose="02040503050406030204" pitchFamily="18" charset="0"/>
                <a:ea typeface="Cambria" panose="02040503050406030204" pitchFamily="18" charset="0"/>
              </a:rPr>
              <a:t>The behavior TCP shows after the detection of congestion is called slow start.</a:t>
            </a:r>
          </a:p>
          <a:p>
            <a:pPr fontAlgn="base"/>
            <a:r>
              <a:rPr lang="en-US" dirty="0">
                <a:latin typeface="Cambria" panose="02040503050406030204" pitchFamily="18" charset="0"/>
                <a:ea typeface="Cambria" panose="02040503050406030204" pitchFamily="18" charset="0"/>
              </a:rPr>
              <a:t>The sender always calculates a congestion window for a receiver.</a:t>
            </a:r>
          </a:p>
          <a:p>
            <a:pPr fontAlgn="base"/>
            <a:r>
              <a:rPr lang="en-US" dirty="0">
                <a:latin typeface="Cambria" panose="02040503050406030204" pitchFamily="18" charset="0"/>
                <a:ea typeface="Cambria" panose="02040503050406030204" pitchFamily="18" charset="0"/>
              </a:rPr>
              <a:t>The start size of the congestion window is one segment (TCP packet).</a:t>
            </a:r>
          </a:p>
          <a:p>
            <a:pPr fontAlgn="base"/>
            <a:r>
              <a:rPr lang="en-US" dirty="0">
                <a:latin typeface="Cambria" panose="02040503050406030204" pitchFamily="18" charset="0"/>
                <a:ea typeface="Cambria" panose="02040503050406030204" pitchFamily="18" charset="0"/>
              </a:rPr>
              <a:t>This scheme doubles the congestion window every time the acknowledgements come back, which takes one round trip time (RTT) like 1, 2, 4, 8 etc.</a:t>
            </a:r>
          </a:p>
          <a:p>
            <a:pPr fontAlgn="base"/>
            <a:r>
              <a:rPr lang="en-US" dirty="0">
                <a:latin typeface="Cambria" panose="02040503050406030204" pitchFamily="18" charset="0"/>
                <a:ea typeface="Cambria" panose="02040503050406030204" pitchFamily="18" charset="0"/>
              </a:rPr>
              <a:t>This is called the exponential growth of the congestion window in the slow start mechanism.</a:t>
            </a:r>
          </a:p>
          <a:p>
            <a:pPr fontAlgn="base"/>
            <a:r>
              <a:rPr lang="en-US" dirty="0">
                <a:latin typeface="Cambria" panose="02040503050406030204" pitchFamily="18" charset="0"/>
                <a:ea typeface="Cambria" panose="02040503050406030204" pitchFamily="18" charset="0"/>
              </a:rPr>
              <a:t>The exponential growth stops at the congestion threshold.</a:t>
            </a:r>
          </a:p>
          <a:p>
            <a:pPr fontAlgn="base"/>
            <a:r>
              <a:rPr lang="en-US" dirty="0">
                <a:latin typeface="Cambria" panose="02040503050406030204" pitchFamily="18" charset="0"/>
                <a:ea typeface="Cambria" panose="02040503050406030204" pitchFamily="18" charset="0"/>
              </a:rPr>
              <a:t>As soon as the congestion window reaches the congestion threshold, further increase of the transmission rate is only linear by adding 1 to the congestion window each time the acknowledgements come back.</a:t>
            </a:r>
          </a:p>
        </p:txBody>
      </p:sp>
    </p:spTree>
    <p:extLst>
      <p:ext uri="{BB962C8B-B14F-4D97-AF65-F5344CB8AC3E}">
        <p14:creationId xmlns:p14="http://schemas.microsoft.com/office/powerpoint/2010/main" xmlns="" val="4223330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Slow Start</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latin typeface="Cambria" panose="02040503050406030204" pitchFamily="18" charset="0"/>
                <a:ea typeface="Cambria" panose="02040503050406030204" pitchFamily="18" charset="0"/>
              </a:rPr>
              <a:t>Linear increase continues until a time-out at </a:t>
            </a:r>
            <a:r>
              <a:rPr lang="en-US" sz="2400" dirty="0">
                <a:latin typeface="Cambria" panose="02040503050406030204" pitchFamily="18" charset="0"/>
                <a:ea typeface="Cambria" panose="02040503050406030204" pitchFamily="18" charset="0"/>
              </a:rPr>
              <a:t>the sender occurs due to a missing acknowledgement, or until the sender detects a gap in transmitted data</a:t>
            </a:r>
          </a:p>
          <a:p>
            <a:pPr lvl="1" fontAlgn="base"/>
            <a:r>
              <a:rPr lang="en-US" dirty="0">
                <a:latin typeface="Cambria" panose="02040503050406030204" pitchFamily="18" charset="0"/>
                <a:ea typeface="Cambria" panose="02040503050406030204" pitchFamily="18" charset="0"/>
              </a:rPr>
              <a:t>the sender sets the congestion threshold to half of the current congestion window</a:t>
            </a:r>
          </a:p>
        </p:txBody>
      </p:sp>
    </p:spTree>
    <p:extLst>
      <p:ext uri="{BB962C8B-B14F-4D97-AF65-F5344CB8AC3E}">
        <p14:creationId xmlns:p14="http://schemas.microsoft.com/office/powerpoint/2010/main" xmlns="" val="3650663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Fast Retransmit/Fast Recovery</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fontAlgn="base">
              <a:buFont typeface="Wingdings" panose="05000000000000000000" pitchFamily="2" charset="2"/>
              <a:buChar char="q"/>
            </a:pPr>
            <a:r>
              <a:rPr lang="en-US" b="1" dirty="0">
                <a:latin typeface="Cambria" panose="02040503050406030204" pitchFamily="18" charset="0"/>
                <a:ea typeface="Cambria" panose="02040503050406030204" pitchFamily="18" charset="0"/>
              </a:rPr>
              <a:t>Fast Retransmit</a:t>
            </a:r>
          </a:p>
          <a:p>
            <a:pPr fontAlgn="base"/>
            <a:r>
              <a:rPr lang="en-US" dirty="0">
                <a:latin typeface="Cambria" panose="02040503050406030204" pitchFamily="18" charset="0"/>
                <a:ea typeface="Cambria" panose="02040503050406030204" pitchFamily="18" charset="0"/>
              </a:rPr>
              <a:t>A receiver sends acknowledgements only if it receives any packets from the sender.</a:t>
            </a:r>
          </a:p>
          <a:p>
            <a:pPr fontAlgn="base"/>
            <a:r>
              <a:rPr lang="en-US" dirty="0">
                <a:latin typeface="Cambria" panose="02040503050406030204" pitchFamily="18" charset="0"/>
                <a:ea typeface="Cambria" panose="02040503050406030204" pitchFamily="18" charset="0"/>
              </a:rPr>
              <a:t>Receiving acknowledgements from a receiver also shows that the receiver continuously receives something from the sender.</a:t>
            </a:r>
          </a:p>
          <a:p>
            <a:pPr fontAlgn="base"/>
            <a:r>
              <a:rPr lang="en-US" dirty="0">
                <a:latin typeface="Cambria" panose="02040503050406030204" pitchFamily="18" charset="0"/>
                <a:ea typeface="Cambria" panose="02040503050406030204" pitchFamily="18" charset="0"/>
              </a:rPr>
              <a:t>The gap in the packet stream is not due to severe congestion, but a simple packet loss due to a transmission error.</a:t>
            </a:r>
          </a:p>
          <a:p>
            <a:pPr fontAlgn="base"/>
            <a:r>
              <a:rPr lang="en-US" dirty="0">
                <a:latin typeface="Cambria" panose="02040503050406030204" pitchFamily="18" charset="0"/>
                <a:ea typeface="Cambria" panose="02040503050406030204" pitchFamily="18" charset="0"/>
              </a:rPr>
              <a:t>The sender can now retransmit the missing packet(s) before the timer expires. This behavior is called fast retransmit.</a:t>
            </a:r>
          </a:p>
        </p:txBody>
      </p:sp>
    </p:spTree>
    <p:extLst>
      <p:ext uri="{BB962C8B-B14F-4D97-AF65-F5344CB8AC3E}">
        <p14:creationId xmlns:p14="http://schemas.microsoft.com/office/powerpoint/2010/main" xmlns="" val="2831794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Fast Retransmit/Fast Recovery</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fontAlgn="base">
              <a:buFont typeface="Wingdings" panose="05000000000000000000" pitchFamily="2" charset="2"/>
              <a:buChar char="q"/>
            </a:pPr>
            <a:r>
              <a:rPr lang="en-US" b="1" dirty="0">
                <a:latin typeface="Cambria" panose="02040503050406030204" pitchFamily="18" charset="0"/>
                <a:ea typeface="Cambria" panose="02040503050406030204" pitchFamily="18" charset="0"/>
              </a:rPr>
              <a:t>Fast Recovery</a:t>
            </a:r>
          </a:p>
          <a:p>
            <a:pPr fontAlgn="base"/>
            <a:r>
              <a:rPr lang="en-US" dirty="0">
                <a:latin typeface="Cambria" panose="02040503050406030204" pitchFamily="18" charset="0"/>
                <a:ea typeface="Cambria" panose="02040503050406030204" pitchFamily="18" charset="0"/>
              </a:rPr>
              <a:t>The receipt of acknowledgements shows that there is no congestion to justify a slow start.</a:t>
            </a:r>
          </a:p>
          <a:p>
            <a:pPr fontAlgn="base"/>
            <a:r>
              <a:rPr lang="en-US" dirty="0">
                <a:latin typeface="Cambria" panose="02040503050406030204" pitchFamily="18" charset="0"/>
                <a:ea typeface="Cambria" panose="02040503050406030204" pitchFamily="18" charset="0"/>
              </a:rPr>
              <a:t>The sender can continue with the current congestion window.</a:t>
            </a:r>
          </a:p>
          <a:p>
            <a:pPr fontAlgn="base"/>
            <a:r>
              <a:rPr lang="en-US" dirty="0">
                <a:latin typeface="Cambria" panose="02040503050406030204" pitchFamily="18" charset="0"/>
                <a:ea typeface="Cambria" panose="02040503050406030204" pitchFamily="18" charset="0"/>
              </a:rPr>
              <a:t>The sender performs a fast recovery from the packet loss.</a:t>
            </a:r>
          </a:p>
          <a:p>
            <a:pPr fontAlgn="base"/>
            <a:r>
              <a:rPr lang="en-US" dirty="0">
                <a:latin typeface="Cambria" panose="02040503050406030204" pitchFamily="18" charset="0"/>
                <a:ea typeface="Cambria" panose="02040503050406030204" pitchFamily="18" charset="0"/>
              </a:rPr>
              <a:t>This mechanism can improve the efficiency of TCP dramatically</a:t>
            </a:r>
          </a:p>
        </p:txBody>
      </p:sp>
    </p:spTree>
    <p:extLst>
      <p:ext uri="{BB962C8B-B14F-4D97-AF65-F5344CB8AC3E}">
        <p14:creationId xmlns:p14="http://schemas.microsoft.com/office/powerpoint/2010/main" xmlns="" val="224525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Implication on mobility</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latin typeface="Cambria" panose="02040503050406030204" pitchFamily="18" charset="0"/>
                <a:ea typeface="Cambria" panose="02040503050406030204" pitchFamily="18" charset="0"/>
              </a:rPr>
              <a:t>TCP concludes a congestion situation from a missing acknowledgement</a:t>
            </a:r>
          </a:p>
          <a:p>
            <a:pPr lvl="1" fontAlgn="base"/>
            <a:r>
              <a:rPr lang="en-US" sz="2400" dirty="0">
                <a:latin typeface="Cambria" panose="02040503050406030204" pitchFamily="18" charset="0"/>
                <a:ea typeface="Cambria" panose="02040503050406030204" pitchFamily="18" charset="0"/>
              </a:rPr>
              <a:t>typically wrong in wireless networks, here we often have packet loss due to transmission errors</a:t>
            </a:r>
          </a:p>
          <a:p>
            <a:pPr lvl="1" fontAlgn="base"/>
            <a:r>
              <a:rPr lang="en-US" sz="2400" dirty="0">
                <a:latin typeface="Cambria" panose="02040503050406030204" pitchFamily="18" charset="0"/>
                <a:ea typeface="Cambria" panose="02040503050406030204" pitchFamily="18" charset="0"/>
              </a:rPr>
              <a:t>mobility itself can cause packet loss, if e.g. a mobile node roams from one access point (e.g. foreign agent in Mobile IP) to another while there are still packets in transit to the wrong access point and forwarding is not possible</a:t>
            </a:r>
          </a:p>
          <a:p>
            <a:pPr marL="457200" lvl="1" indent="0" fontAlgn="base">
              <a:buNone/>
            </a:pPr>
            <a:endParaRPr lang="en-US" sz="2400" dirty="0">
              <a:latin typeface="Cambria" panose="02040503050406030204" pitchFamily="18" charset="0"/>
              <a:ea typeface="Cambria" panose="02040503050406030204" pitchFamily="18" charset="0"/>
            </a:endParaRPr>
          </a:p>
          <a:p>
            <a:pPr fontAlgn="base"/>
            <a:r>
              <a:rPr lang="en-US" dirty="0">
                <a:latin typeface="Cambria" panose="02040503050406030204" pitchFamily="18" charset="0"/>
                <a:ea typeface="Cambria" panose="02040503050406030204" pitchFamily="18" charset="0"/>
              </a:rPr>
              <a:t>The performance of an unchanged TCP degrades severely</a:t>
            </a:r>
          </a:p>
          <a:p>
            <a:pPr lvl="1" fontAlgn="base"/>
            <a:r>
              <a:rPr lang="en-US" sz="2400" dirty="0">
                <a:latin typeface="Cambria" panose="02040503050406030204" pitchFamily="18" charset="0"/>
                <a:ea typeface="Cambria" panose="02040503050406030204" pitchFamily="18" charset="0"/>
              </a:rPr>
              <a:t>TCP cannot be changed fundamentally due to the large base of installation in the fixed network,</a:t>
            </a:r>
          </a:p>
          <a:p>
            <a:pPr lvl="2" fontAlgn="base"/>
            <a:r>
              <a:rPr lang="en-US" sz="2400" dirty="0">
                <a:latin typeface="Cambria" panose="02040503050406030204" pitchFamily="18" charset="0"/>
                <a:ea typeface="Cambria" panose="02040503050406030204" pitchFamily="18" charset="0"/>
              </a:rPr>
              <a:t>TCP for mobility has to remain compatible</a:t>
            </a:r>
          </a:p>
          <a:p>
            <a:pPr lvl="1" fontAlgn="base"/>
            <a:r>
              <a:rPr lang="en-US" sz="2400" dirty="0">
                <a:latin typeface="Cambria" panose="02040503050406030204" pitchFamily="18" charset="0"/>
                <a:ea typeface="Cambria" panose="02040503050406030204" pitchFamily="18" charset="0"/>
              </a:rPr>
              <a:t>the basic TCP mechanisms keep the whole Internet together</a:t>
            </a:r>
          </a:p>
        </p:txBody>
      </p:sp>
    </p:spTree>
    <p:extLst>
      <p:ext uri="{BB962C8B-B14F-4D97-AF65-F5344CB8AC3E}">
        <p14:creationId xmlns:p14="http://schemas.microsoft.com/office/powerpoint/2010/main" xmlns="" val="1104633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wipe(left)">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wipe(left)">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wipe(left)">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wipe(left)">
                                      <p:cBhvr>
                                        <p:cTn id="3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26"/>
          <p:cNvPicPr preferRelativeResize="0"/>
          <p:nvPr/>
        </p:nvPicPr>
        <p:blipFill>
          <a:blip r:embed="rId3">
            <a:alphaModFix/>
          </a:blip>
          <a:stretch>
            <a:fillRect/>
          </a:stretch>
        </p:blipFill>
        <p:spPr>
          <a:xfrm>
            <a:off x="0" y="1"/>
            <a:ext cx="12192000" cy="6852444"/>
          </a:xfrm>
          <a:prstGeom prst="rect">
            <a:avLst/>
          </a:prstGeom>
          <a:noFill/>
          <a:ln>
            <a:noFill/>
          </a:ln>
        </p:spPr>
      </p:pic>
      <p:pic>
        <p:nvPicPr>
          <p:cNvPr id="220" name="Google Shape;220;p26"/>
          <p:cNvPicPr preferRelativeResize="0"/>
          <p:nvPr/>
        </p:nvPicPr>
        <p:blipFill>
          <a:blip r:embed="rId4">
            <a:alphaModFix/>
          </a:blip>
          <a:stretch>
            <a:fillRect/>
          </a:stretch>
        </p:blipFill>
        <p:spPr>
          <a:xfrm>
            <a:off x="6351" y="6334"/>
            <a:ext cx="12179300" cy="6845300"/>
          </a:xfrm>
          <a:prstGeom prst="rect">
            <a:avLst/>
          </a:prstGeom>
          <a:noFill/>
          <a:ln>
            <a:noFill/>
          </a:ln>
        </p:spPr>
      </p:pic>
      <p:sp>
        <p:nvSpPr>
          <p:cNvPr id="221" name="Google Shape;221;p26"/>
          <p:cNvSpPr txBox="1"/>
          <p:nvPr/>
        </p:nvSpPr>
        <p:spPr>
          <a:xfrm>
            <a:off x="203201" y="1173670"/>
            <a:ext cx="7437119" cy="2092840"/>
          </a:xfrm>
          <a:prstGeom prst="rect">
            <a:avLst/>
          </a:prstGeom>
          <a:noFill/>
          <a:ln>
            <a:noFill/>
          </a:ln>
        </p:spPr>
        <p:txBody>
          <a:bodyPr spcFirstLastPara="1" wrap="square" lIns="121900" tIns="121900" rIns="121900" bIns="121900" anchor="t" anchorCtr="0">
            <a:spAutoFit/>
          </a:bodyPr>
          <a:lstStyle/>
          <a:p>
            <a:pPr lvl="0"/>
            <a:r>
              <a:rPr lang="en-IN" sz="6000" b="1" dirty="0">
                <a:solidFill>
                  <a:schemeClr val="dk2"/>
                </a:solidFill>
                <a:latin typeface="Proxima Nova"/>
                <a:ea typeface="Proxima Nova"/>
                <a:cs typeface="Proxima Nova"/>
                <a:sym typeface="Proxima Nova"/>
              </a:rPr>
              <a:t>Classical </a:t>
            </a:r>
          </a:p>
          <a:p>
            <a:pPr lvl="0"/>
            <a:r>
              <a:rPr lang="en-IN" sz="6000" b="1" dirty="0">
                <a:solidFill>
                  <a:schemeClr val="dk2"/>
                </a:solidFill>
                <a:latin typeface="Proxima Nova"/>
                <a:ea typeface="Proxima Nova"/>
                <a:cs typeface="Proxima Nova"/>
                <a:sym typeface="Proxima Nova"/>
              </a:rPr>
              <a:t>TCP Improvement</a:t>
            </a:r>
          </a:p>
        </p:txBody>
      </p:sp>
      <p:pic>
        <p:nvPicPr>
          <p:cNvPr id="225" name="Google Shape;225;p26"/>
          <p:cNvPicPr preferRelativeResize="0"/>
          <p:nvPr/>
        </p:nvPicPr>
        <p:blipFill>
          <a:blip r:embed="rId5">
            <a:alphaModFix/>
          </a:blip>
          <a:stretch>
            <a:fillRect/>
          </a:stretch>
        </p:blipFill>
        <p:spPr>
          <a:xfrm>
            <a:off x="9817918" y="198118"/>
            <a:ext cx="1993900" cy="495300"/>
          </a:xfrm>
          <a:prstGeom prst="rect">
            <a:avLst/>
          </a:prstGeom>
          <a:noFill/>
          <a:ln>
            <a:noFill/>
          </a:ln>
        </p:spPr>
      </p:pic>
    </p:spTree>
    <p:extLst>
      <p:ext uri="{BB962C8B-B14F-4D97-AF65-F5344CB8AC3E}">
        <p14:creationId xmlns:p14="http://schemas.microsoft.com/office/powerpoint/2010/main" xmlns="" val="3664256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69" name="Google Shape;69;p15"/>
          <p:cNvSpPr txBox="1"/>
          <p:nvPr/>
        </p:nvSpPr>
        <p:spPr>
          <a:xfrm>
            <a:off x="246581" y="127217"/>
            <a:ext cx="9600000" cy="718170"/>
          </a:xfrm>
          <a:prstGeom prst="rect">
            <a:avLst/>
          </a:prstGeom>
          <a:noFill/>
          <a:ln>
            <a:noFill/>
          </a:ln>
        </p:spPr>
        <p:txBody>
          <a:bodyPr spcFirstLastPara="1" wrap="square" lIns="121900" tIns="121900" rIns="121900" bIns="121900" anchor="t" anchorCtr="0">
            <a:spAutoFit/>
          </a:bodyPr>
          <a:lstStyle/>
          <a:p>
            <a:pPr lvl="0"/>
            <a:r>
              <a:rPr lang="en-US" sz="3067" dirty="0">
                <a:solidFill>
                  <a:srgbClr val="00A4B6"/>
                </a:solidFill>
                <a:latin typeface="Cambria" panose="02040503050406030204" pitchFamily="18" charset="0"/>
                <a:ea typeface="Cambria" panose="02040503050406030204" pitchFamily="18" charset="0"/>
                <a:cs typeface="Proxima Nova"/>
                <a:sym typeface="Proxima Nova"/>
              </a:rPr>
              <a:t>Classical TCP Improvement</a:t>
            </a:r>
            <a:endParaRPr sz="3067" dirty="0">
              <a:solidFill>
                <a:srgbClr val="00A4B6"/>
              </a:solidFill>
              <a:latin typeface="Cambria" panose="02040503050406030204" pitchFamily="18" charset="0"/>
              <a:ea typeface="Cambria" panose="02040503050406030204" pitchFamily="18" charset="0"/>
              <a:cs typeface="Proxima Nova"/>
              <a:sym typeface="Proxima Nova"/>
            </a:endParaRPr>
          </a:p>
        </p:txBody>
      </p:sp>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fontAlgn="base"/>
            <a:r>
              <a:rPr lang="en-US" altLang="en-US" dirty="0">
                <a:latin typeface="Cambria" panose="02040503050406030204" pitchFamily="18" charset="0"/>
                <a:ea typeface="Cambria" panose="02040503050406030204" pitchFamily="18" charset="0"/>
              </a:rPr>
              <a:t>Indirect TCP (I-TCP)</a:t>
            </a:r>
          </a:p>
          <a:p>
            <a:pPr lvl="0" fontAlgn="base"/>
            <a:r>
              <a:rPr lang="en-US" altLang="en-US" dirty="0">
                <a:latin typeface="Cambria" panose="02040503050406030204" pitchFamily="18" charset="0"/>
                <a:ea typeface="Cambria" panose="02040503050406030204" pitchFamily="18" charset="0"/>
              </a:rPr>
              <a:t>Snooping TCP</a:t>
            </a:r>
          </a:p>
          <a:p>
            <a:pPr lvl="0" fontAlgn="base"/>
            <a:r>
              <a:rPr lang="en-US" altLang="en-US" dirty="0">
                <a:latin typeface="Cambria" panose="02040503050406030204" pitchFamily="18" charset="0"/>
                <a:ea typeface="Cambria" panose="02040503050406030204" pitchFamily="18" charset="0"/>
              </a:rPr>
              <a:t>Mobile TCP</a:t>
            </a:r>
          </a:p>
          <a:p>
            <a:pPr lvl="0" fontAlgn="base"/>
            <a:r>
              <a:rPr lang="en-US" altLang="en-US" dirty="0">
                <a:latin typeface="Cambria" panose="02040503050406030204" pitchFamily="18" charset="0"/>
                <a:ea typeface="Cambria" panose="02040503050406030204" pitchFamily="18" charset="0"/>
              </a:rPr>
              <a:t>Fast retransmit/fast recovery</a:t>
            </a:r>
          </a:p>
          <a:p>
            <a:pPr lvl="0" fontAlgn="base"/>
            <a:r>
              <a:rPr lang="en-US" altLang="en-US" dirty="0">
                <a:latin typeface="Cambria" panose="02040503050406030204" pitchFamily="18" charset="0"/>
                <a:ea typeface="Cambria" panose="02040503050406030204" pitchFamily="18" charset="0"/>
              </a:rPr>
              <a:t>Transmission/time-out freezing</a:t>
            </a:r>
          </a:p>
          <a:p>
            <a:pPr lvl="0" fontAlgn="base"/>
            <a:r>
              <a:rPr lang="en-US" altLang="en-US" dirty="0">
                <a:latin typeface="Cambria" panose="02040503050406030204" pitchFamily="18" charset="0"/>
                <a:ea typeface="Cambria" panose="02040503050406030204" pitchFamily="18" charset="0"/>
              </a:rPr>
              <a:t>Selective retransmission</a:t>
            </a:r>
          </a:p>
          <a:p>
            <a:pPr lvl="0" fontAlgn="base"/>
            <a:r>
              <a:rPr lang="en-US" altLang="en-US" dirty="0">
                <a:latin typeface="Cambria" panose="02040503050406030204" pitchFamily="18" charset="0"/>
                <a:ea typeface="Cambria" panose="02040503050406030204" pitchFamily="18" charset="0"/>
              </a:rPr>
              <a:t>Transaction-oriented TCP</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2950685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mbria" panose="02040503050406030204" pitchFamily="18" charset="0"/>
                <a:ea typeface="Cambria" panose="02040503050406030204" pitchFamily="18" charset="0"/>
              </a:rPr>
              <a:t>I-TCP segments a TCP connection into a </a:t>
            </a:r>
          </a:p>
          <a:p>
            <a:pPr lvl="1"/>
            <a:r>
              <a:rPr lang="en-US" sz="2400" dirty="0">
                <a:latin typeface="Cambria" panose="02040503050406030204" pitchFamily="18" charset="0"/>
                <a:ea typeface="Cambria" panose="02040503050406030204" pitchFamily="18" charset="0"/>
              </a:rPr>
              <a:t> fixed part - Standard TCP is used </a:t>
            </a:r>
          </a:p>
          <a:p>
            <a:pPr lvl="2"/>
            <a:r>
              <a:rPr lang="en-US" altLang="en-US" sz="2400" dirty="0">
                <a:latin typeface="Cambria" panose="02040503050406030204" pitchFamily="18" charset="0"/>
                <a:ea typeface="Cambria" panose="02040503050406030204" pitchFamily="18" charset="0"/>
              </a:rPr>
              <a:t>no changes to the TCP protocol for hosts connected to the wired Internet, millions of computers use (variants of) this protocol</a:t>
            </a:r>
            <a:endParaRPr lang="en-US" sz="2400" dirty="0">
              <a:latin typeface="Cambria" panose="02040503050406030204" pitchFamily="18" charset="0"/>
              <a:ea typeface="Cambria" panose="02040503050406030204" pitchFamily="18" charset="0"/>
            </a:endParaRPr>
          </a:p>
          <a:p>
            <a:pPr lvl="1"/>
            <a:r>
              <a:rPr lang="en-US" sz="2400" dirty="0">
                <a:latin typeface="Cambria" panose="02040503050406030204" pitchFamily="18" charset="0"/>
                <a:ea typeface="Cambria" panose="02040503050406030204" pitchFamily="18" charset="0"/>
              </a:rPr>
              <a:t> wireless part - optimized TCP protocol </a:t>
            </a:r>
          </a:p>
          <a:p>
            <a:pPr lvl="2"/>
            <a:r>
              <a:rPr lang="en-US" altLang="en-US" sz="2400" dirty="0">
                <a:latin typeface="Cambria" panose="02040503050406030204" pitchFamily="18" charset="0"/>
                <a:ea typeface="Cambria" panose="02040503050406030204" pitchFamily="18" charset="0"/>
              </a:rPr>
              <a:t>optimized TCP protocol for mobile hosts</a:t>
            </a:r>
          </a:p>
          <a:p>
            <a:pPr lvl="2"/>
            <a:endParaRPr lang="en-US" altLang="en-US" sz="2400"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Splitting of the TCP connection at, e.g., the foreign agent into 2 TCP connections, no real end-to-end connection any longer </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Hosts in the fixed part of the net do not notice the characteristics of the wireless part </a:t>
            </a:r>
          </a:p>
          <a:p>
            <a:pPr algn="l" fontAlgn="base"/>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53020" y="198118"/>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Indirect TCP (I-TCP)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1582581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endParaRPr lang="en-US" b="1"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53020" y="198118"/>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Indirect TCP (I-TCP)     </a:t>
            </a:r>
            <a:endParaRPr sz="3067" dirty="0">
              <a:solidFill>
                <a:srgbClr val="00A4B6"/>
              </a:solidFill>
              <a:latin typeface="Cambria" panose="02040503050406030204" pitchFamily="18" charset="0"/>
              <a:ea typeface="Cambria" panose="02040503050406030204" pitchFamily="18" charset="0"/>
              <a:sym typeface="Proxima Nova"/>
            </a:endParaRPr>
          </a:p>
        </p:txBody>
      </p:sp>
      <p:pic>
        <p:nvPicPr>
          <p:cNvPr id="1026" name="Picture 2"/>
          <p:cNvPicPr>
            <a:picLocks noChangeAspect="1" noChangeArrowheads="1"/>
          </p:cNvPicPr>
          <p:nvPr/>
        </p:nvPicPr>
        <p:blipFill>
          <a:blip r:embed="rId6"/>
          <a:srcRect/>
          <a:stretch>
            <a:fillRect/>
          </a:stretch>
        </p:blipFill>
        <p:spPr bwMode="auto">
          <a:xfrm>
            <a:off x="1190017" y="1181100"/>
            <a:ext cx="9753600" cy="5676900"/>
          </a:xfrm>
          <a:prstGeom prst="rect">
            <a:avLst/>
          </a:prstGeom>
          <a:noFill/>
          <a:ln w="9525">
            <a:noFill/>
            <a:miter lim="800000"/>
            <a:headEnd/>
            <a:tailEnd/>
          </a:ln>
          <a:effectLst/>
        </p:spPr>
      </p:pic>
    </p:spTree>
    <p:extLst>
      <p:ext uri="{BB962C8B-B14F-4D97-AF65-F5344CB8AC3E}">
        <p14:creationId xmlns:p14="http://schemas.microsoft.com/office/powerpoint/2010/main" xmlns="" val="4220552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endParaRPr lang="en-US" b="1"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53020" y="198118"/>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Indirect TCP (I-TCP)     </a:t>
            </a:r>
            <a:endParaRPr sz="3067" dirty="0">
              <a:solidFill>
                <a:srgbClr val="00A4B6"/>
              </a:solidFill>
              <a:latin typeface="Cambria" panose="02040503050406030204" pitchFamily="18" charset="0"/>
              <a:ea typeface="Cambria" panose="02040503050406030204" pitchFamily="18" charset="0"/>
              <a:sym typeface="Proxima Nova"/>
            </a:endParaRPr>
          </a:p>
        </p:txBody>
      </p:sp>
      <p:pic>
        <p:nvPicPr>
          <p:cNvPr id="2050" name="Picture 2"/>
          <p:cNvPicPr>
            <a:picLocks noChangeAspect="1" noChangeArrowheads="1"/>
          </p:cNvPicPr>
          <p:nvPr/>
        </p:nvPicPr>
        <p:blipFill>
          <a:blip r:embed="rId6"/>
          <a:srcRect/>
          <a:stretch>
            <a:fillRect/>
          </a:stretch>
        </p:blipFill>
        <p:spPr bwMode="auto">
          <a:xfrm>
            <a:off x="1476375" y="947738"/>
            <a:ext cx="9239250" cy="4962525"/>
          </a:xfrm>
          <a:prstGeom prst="rect">
            <a:avLst/>
          </a:prstGeom>
          <a:noFill/>
          <a:ln w="9525">
            <a:noFill/>
            <a:miter lim="800000"/>
            <a:headEnd/>
            <a:tailEnd/>
          </a:ln>
          <a:effectLst/>
        </p:spPr>
      </p:pic>
    </p:spTree>
    <p:extLst>
      <p:ext uri="{BB962C8B-B14F-4D97-AF65-F5344CB8AC3E}">
        <p14:creationId xmlns:p14="http://schemas.microsoft.com/office/powerpoint/2010/main" xmlns="" val="4220552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latin typeface="Cambria" panose="02040503050406030204" pitchFamily="18" charset="0"/>
                <a:ea typeface="Cambria" panose="02040503050406030204" pitchFamily="18" charset="0"/>
              </a:rPr>
              <a:t>Advantages</a:t>
            </a:r>
          </a:p>
          <a:p>
            <a:pPr lvl="1"/>
            <a:r>
              <a:rPr lang="en-US" altLang="en-US" sz="2400" dirty="0">
                <a:latin typeface="Cambria" panose="02040503050406030204" pitchFamily="18" charset="0"/>
                <a:ea typeface="Cambria" panose="02040503050406030204" pitchFamily="18" charset="0"/>
              </a:rPr>
              <a:t>no changes in the fixed network necessary, no changes for the hosts (TCP protocol) necessary, all current optimizations to TCP still work</a:t>
            </a:r>
          </a:p>
          <a:p>
            <a:pPr lvl="1"/>
            <a:r>
              <a:rPr lang="en-US" altLang="en-US" sz="2400" dirty="0">
                <a:latin typeface="Cambria" panose="02040503050406030204" pitchFamily="18" charset="0"/>
                <a:ea typeface="Cambria" panose="02040503050406030204" pitchFamily="18" charset="0"/>
              </a:rPr>
              <a:t>transmission errors on the wireless link do not propagate into the fixed network</a:t>
            </a:r>
          </a:p>
          <a:p>
            <a:pPr lvl="1"/>
            <a:r>
              <a:rPr lang="en-US" altLang="en-US" sz="2400" dirty="0">
                <a:latin typeface="Cambria" panose="02040503050406030204" pitchFamily="18" charset="0"/>
                <a:ea typeface="Cambria" panose="02040503050406030204" pitchFamily="18" charset="0"/>
              </a:rPr>
              <a:t>simple to control, mobile TCP is used only for one hop between, e.g., a foreign agent and mobile host</a:t>
            </a:r>
          </a:p>
          <a:p>
            <a:pPr lvl="1"/>
            <a:r>
              <a:rPr lang="en-US" altLang="en-US" sz="2400" dirty="0">
                <a:latin typeface="Cambria" panose="02040503050406030204" pitchFamily="18" charset="0"/>
                <a:ea typeface="Cambria" panose="02040503050406030204" pitchFamily="18" charset="0"/>
              </a:rPr>
              <a:t>therefore, a very fast retransmission of packets is possible, the short delay on the mobile hop is known</a:t>
            </a:r>
          </a:p>
          <a:p>
            <a:r>
              <a:rPr lang="en-US" altLang="en-US" b="1" dirty="0">
                <a:latin typeface="Cambria" panose="02040503050406030204" pitchFamily="18" charset="0"/>
                <a:ea typeface="Cambria" panose="02040503050406030204" pitchFamily="18" charset="0"/>
              </a:rPr>
              <a:t>Disadvantages</a:t>
            </a:r>
          </a:p>
          <a:p>
            <a:pPr lvl="1"/>
            <a:r>
              <a:rPr lang="en-US" altLang="en-US" sz="2400" dirty="0">
                <a:latin typeface="Cambria" panose="02040503050406030204" pitchFamily="18" charset="0"/>
                <a:ea typeface="Cambria" panose="02040503050406030204" pitchFamily="18" charset="0"/>
              </a:rPr>
              <a:t>loss of end-to-end semantics, an acknowledgement to a sender does now not any longer mean that a receiver really got a packet, foreign agents might crash</a:t>
            </a:r>
          </a:p>
          <a:p>
            <a:pPr lvl="1"/>
            <a:r>
              <a:rPr lang="en-US" altLang="en-US" sz="2400" dirty="0">
                <a:latin typeface="Cambria" panose="02040503050406030204" pitchFamily="18" charset="0"/>
                <a:ea typeface="Cambria" panose="02040503050406030204" pitchFamily="18" charset="0"/>
              </a:rPr>
              <a:t>higher latency possible due to buffering of data within the foreign agent and forwarding to a new foreign agent</a:t>
            </a:r>
          </a:p>
          <a:p>
            <a:pPr algn="l" fontAlgn="base"/>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53020" y="198118"/>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Indirect TCP (I-TCP)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4220552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mbria" panose="02040503050406030204" pitchFamily="18" charset="0"/>
                <a:ea typeface="Cambria" panose="02040503050406030204" pitchFamily="18" charset="0"/>
              </a:rPr>
              <a:t>The foreign agent buffers all packets with destination mobile host and additionally ‘snoops’ the packet flow in both directions to recognize acknowledgements. </a:t>
            </a:r>
          </a:p>
          <a:p>
            <a:r>
              <a:rPr lang="en-US" dirty="0">
                <a:latin typeface="Cambria" panose="02040503050406030204" pitchFamily="18" charset="0"/>
                <a:ea typeface="Cambria" panose="02040503050406030204" pitchFamily="18" charset="0"/>
              </a:rPr>
              <a:t>Buffering enable the FA to perform a local retransmission in case of packet loss on the wireless link. </a:t>
            </a:r>
          </a:p>
          <a:p>
            <a:r>
              <a:rPr lang="en-US" b="1" dirty="0">
                <a:latin typeface="Cambria" panose="02040503050406030204" pitchFamily="18" charset="0"/>
                <a:ea typeface="Cambria" panose="02040503050406030204" pitchFamily="18" charset="0"/>
              </a:rPr>
              <a:t>Transparent extension of TCP within the foreign agent </a:t>
            </a:r>
          </a:p>
          <a:p>
            <a:r>
              <a:rPr lang="en-US" dirty="0">
                <a:latin typeface="Cambria" panose="02040503050406030204" pitchFamily="18" charset="0"/>
                <a:ea typeface="Cambria" panose="02040503050406030204" pitchFamily="18" charset="0"/>
              </a:rPr>
              <a:t>Buffering of packets sent to the mobile host.</a:t>
            </a:r>
          </a:p>
          <a:p>
            <a:r>
              <a:rPr lang="en-US" dirty="0">
                <a:latin typeface="Cambria" panose="02040503050406030204" pitchFamily="18" charset="0"/>
                <a:ea typeface="Cambria" panose="02040503050406030204" pitchFamily="18" charset="0"/>
              </a:rPr>
              <a:t>Lost packets on the wireless link (both directions!) will be retransmitted immediately by the mobile host or foreign agent, respectively (so called “local” retransmission).</a:t>
            </a:r>
          </a:p>
          <a:p>
            <a:r>
              <a:rPr lang="en-US" dirty="0">
                <a:latin typeface="Cambria" panose="02040503050406030204" pitchFamily="18" charset="0"/>
                <a:ea typeface="Cambria" panose="02040503050406030204" pitchFamily="18" charset="0"/>
              </a:rPr>
              <a:t>The foreign agent therefore “snoops” the packet flow and recognizes acknowledgements in both directions, it also filters ACKs. </a:t>
            </a:r>
          </a:p>
          <a:p>
            <a:r>
              <a:rPr lang="en-US" dirty="0">
                <a:latin typeface="Cambria" panose="02040503050406030204" pitchFamily="18" charset="0"/>
                <a:ea typeface="Cambria" panose="02040503050406030204" pitchFamily="18" charset="0"/>
              </a:rPr>
              <a:t>Changes of TCP only within the foreign agent. </a:t>
            </a:r>
          </a:p>
          <a:p>
            <a:pPr marL="0" indent="0">
              <a:buNone/>
            </a:pPr>
            <a:endParaRPr lang="en-IN"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Snooping 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104782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1181" y="944724"/>
            <a:ext cx="11908419"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Snooping TCP      </a:t>
            </a:r>
            <a:endParaRPr sz="3067" dirty="0">
              <a:solidFill>
                <a:srgbClr val="00A4B6"/>
              </a:solidFill>
              <a:latin typeface="Cambria" panose="02040503050406030204" pitchFamily="18" charset="0"/>
              <a:ea typeface="Cambria" panose="02040503050406030204" pitchFamily="18" charset="0"/>
              <a:sym typeface="Proxima Nova"/>
            </a:endParaRPr>
          </a:p>
        </p:txBody>
      </p:sp>
      <p:pic>
        <p:nvPicPr>
          <p:cNvPr id="3074" name="Picture 2"/>
          <p:cNvPicPr>
            <a:picLocks noChangeAspect="1" noChangeArrowheads="1"/>
          </p:cNvPicPr>
          <p:nvPr/>
        </p:nvPicPr>
        <p:blipFill>
          <a:blip r:embed="rId6"/>
          <a:srcRect/>
          <a:stretch>
            <a:fillRect/>
          </a:stretch>
        </p:blipFill>
        <p:spPr bwMode="auto">
          <a:xfrm>
            <a:off x="2081213" y="1614791"/>
            <a:ext cx="8029575" cy="4124528"/>
          </a:xfrm>
          <a:prstGeom prst="rect">
            <a:avLst/>
          </a:prstGeom>
          <a:noFill/>
          <a:ln w="9525">
            <a:noFill/>
            <a:miter lim="800000"/>
            <a:headEnd/>
            <a:tailEnd/>
          </a:ln>
          <a:effectLst/>
        </p:spPr>
      </p:pic>
    </p:spTree>
    <p:extLst>
      <p:ext uri="{BB962C8B-B14F-4D97-AF65-F5344CB8AC3E}">
        <p14:creationId xmlns:p14="http://schemas.microsoft.com/office/powerpoint/2010/main" xmlns="" val="104782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910764"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Data transfer to the mobile host</a:t>
            </a:r>
          </a:p>
          <a:p>
            <a:pPr lvl="1"/>
            <a:r>
              <a:rPr lang="en-US" altLang="en-US" sz="2400" dirty="0">
                <a:latin typeface="Cambria" panose="02040503050406030204" pitchFamily="18" charset="0"/>
                <a:ea typeface="Cambria" panose="02040503050406030204" pitchFamily="18" charset="0"/>
              </a:rPr>
              <a:t>FA buffers data until it receives ACK of the MH, FA detects packet loss via duplicated ACKs or time-out</a:t>
            </a:r>
          </a:p>
          <a:p>
            <a:pPr lvl="1"/>
            <a:r>
              <a:rPr lang="en-US" altLang="en-US" sz="2400" dirty="0">
                <a:latin typeface="Cambria" panose="02040503050406030204" pitchFamily="18" charset="0"/>
                <a:ea typeface="Cambria" panose="02040503050406030204" pitchFamily="18" charset="0"/>
              </a:rPr>
              <a:t>fast retransmission possible, transparent for the fixed network</a:t>
            </a:r>
          </a:p>
          <a:p>
            <a:pPr lvl="1"/>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Data transfer from the mobile host</a:t>
            </a:r>
          </a:p>
          <a:p>
            <a:pPr lvl="1"/>
            <a:r>
              <a:rPr lang="en-US" altLang="en-US" sz="2400" dirty="0">
                <a:latin typeface="Cambria" panose="02040503050406030204" pitchFamily="18" charset="0"/>
                <a:ea typeface="Cambria" panose="02040503050406030204" pitchFamily="18" charset="0"/>
              </a:rPr>
              <a:t>FA detects packet loss on the wireless link via sequence numbers, FA answers directly with a NACK to the MH</a:t>
            </a:r>
          </a:p>
          <a:p>
            <a:pPr lvl="1"/>
            <a:r>
              <a:rPr lang="en-US" altLang="en-US" sz="2400" dirty="0">
                <a:latin typeface="Cambria" panose="02040503050406030204" pitchFamily="18" charset="0"/>
                <a:ea typeface="Cambria" panose="02040503050406030204" pitchFamily="18" charset="0"/>
              </a:rPr>
              <a:t>MH can now retransmit data with only a very short delay</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Integration of the MAC layer</a:t>
            </a:r>
          </a:p>
          <a:p>
            <a:pPr lvl="1"/>
            <a:r>
              <a:rPr lang="en-US" altLang="en-US" sz="2400" dirty="0">
                <a:latin typeface="Cambria" panose="02040503050406030204" pitchFamily="18" charset="0"/>
                <a:ea typeface="Cambria" panose="02040503050406030204" pitchFamily="18" charset="0"/>
              </a:rPr>
              <a:t>MAC layer often has similar mechanisms to those of TCP</a:t>
            </a:r>
          </a:p>
          <a:p>
            <a:pPr lvl="1"/>
            <a:r>
              <a:rPr lang="en-US" altLang="en-US" sz="2400" dirty="0">
                <a:latin typeface="Cambria" panose="02040503050406030204" pitchFamily="18" charset="0"/>
                <a:ea typeface="Cambria" panose="02040503050406030204" pitchFamily="18" charset="0"/>
              </a:rPr>
              <a:t>thus, the MAC layer can already detect duplicated packets due to retransmissions and discard them </a:t>
            </a:r>
            <a:endParaRPr lang="en-IN"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Snooping 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2337709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910764"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Problems</a:t>
            </a:r>
          </a:p>
          <a:p>
            <a:pPr lvl="1"/>
            <a:r>
              <a:rPr lang="en-US" altLang="en-US" sz="2400" dirty="0">
                <a:latin typeface="Cambria" panose="02040503050406030204" pitchFamily="18" charset="0"/>
                <a:ea typeface="Cambria" panose="02040503050406030204" pitchFamily="18" charset="0"/>
              </a:rPr>
              <a:t>snooping TCP does not isolate the wireless link as good as I-TCP</a:t>
            </a:r>
          </a:p>
          <a:p>
            <a:pPr lvl="1"/>
            <a:r>
              <a:rPr lang="en-US" altLang="en-US" sz="2400" dirty="0">
                <a:latin typeface="Cambria" panose="02040503050406030204" pitchFamily="18" charset="0"/>
                <a:ea typeface="Cambria" panose="02040503050406030204" pitchFamily="18" charset="0"/>
              </a:rPr>
              <a:t>snooping might be useless depending on encryption schemes</a:t>
            </a:r>
          </a:p>
          <a:p>
            <a:endParaRPr lang="en-IN"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Snooping 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1673013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910764"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latin typeface="Cambria" panose="02040503050406030204" pitchFamily="18" charset="0"/>
                <a:ea typeface="Cambria" panose="02040503050406030204" pitchFamily="18" charset="0"/>
              </a:rPr>
              <a:t>Advantages </a:t>
            </a:r>
          </a:p>
          <a:p>
            <a:pPr lvl="1"/>
            <a:r>
              <a:rPr lang="en-US" dirty="0">
                <a:latin typeface="Cambria" panose="02040503050406030204" pitchFamily="18" charset="0"/>
                <a:ea typeface="Cambria" panose="02040503050406030204" pitchFamily="18" charset="0"/>
              </a:rPr>
              <a:t> The end-to-end TCP semantic is preserved </a:t>
            </a:r>
          </a:p>
          <a:p>
            <a:pPr lvl="1"/>
            <a:r>
              <a:rPr lang="en-US" dirty="0">
                <a:latin typeface="Cambria" panose="02040503050406030204" pitchFamily="18" charset="0"/>
                <a:ea typeface="Cambria" panose="02040503050406030204" pitchFamily="18" charset="0"/>
              </a:rPr>
              <a:t>The correspondent host does not need to be changed; most of the enhancements are in the foreign agent </a:t>
            </a:r>
          </a:p>
          <a:p>
            <a:pPr lvl="1"/>
            <a:r>
              <a:rPr lang="en-US" dirty="0">
                <a:latin typeface="Cambria" panose="02040503050406030204" pitchFamily="18" charset="0"/>
                <a:ea typeface="Cambria" panose="02040503050406030204" pitchFamily="18" charset="0"/>
              </a:rPr>
              <a:t>It does not need a handover of state as soon as the mobile host moves to another foreign agent. </a:t>
            </a:r>
          </a:p>
          <a:p>
            <a:pPr lvl="1"/>
            <a:r>
              <a:rPr lang="en-US" dirty="0">
                <a:latin typeface="Cambria" panose="02040503050406030204" pitchFamily="18" charset="0"/>
                <a:ea typeface="Cambria" panose="02040503050406030204" pitchFamily="18" charset="0"/>
              </a:rPr>
              <a:t>It does not matter if the next foreign agent uses the enhancement or not </a:t>
            </a:r>
          </a:p>
          <a:p>
            <a:endParaRPr lang="en-IN"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Disadvantages </a:t>
            </a:r>
          </a:p>
          <a:p>
            <a:pPr lvl="1"/>
            <a:r>
              <a:rPr lang="en-US" dirty="0">
                <a:latin typeface="Cambria" panose="02040503050406030204" pitchFamily="18" charset="0"/>
                <a:ea typeface="Cambria" panose="02040503050406030204" pitchFamily="18" charset="0"/>
              </a:rPr>
              <a:t>Snooping TCP does not isolate the behavior of the wireless link as well as ITCP </a:t>
            </a:r>
          </a:p>
          <a:p>
            <a:pPr lvl="1"/>
            <a:r>
              <a:rPr lang="en-US" dirty="0">
                <a:latin typeface="Cambria" panose="02040503050406030204" pitchFamily="18" charset="0"/>
                <a:ea typeface="Cambria" panose="02040503050406030204" pitchFamily="18" charset="0"/>
              </a:rPr>
              <a:t>Using negative acknowledgements between the foreign agent and the mobile host assumes additional mechanisms on the mobile host. </a:t>
            </a:r>
          </a:p>
          <a:p>
            <a:pPr lvl="1"/>
            <a:r>
              <a:rPr lang="en-US" dirty="0">
                <a:latin typeface="Cambria" panose="02040503050406030204" pitchFamily="18" charset="0"/>
                <a:ea typeface="Cambria" panose="02040503050406030204" pitchFamily="18" charset="0"/>
              </a:rPr>
              <a:t>All efforts for snooping and buffering data may be useless if certain encryption schemes are applied end-to- end between the correspondent host and mobile host </a:t>
            </a:r>
          </a:p>
          <a:p>
            <a:endParaRPr lang="en-US"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Snooping 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1742248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2" y="926360"/>
            <a:ext cx="12314255"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Special handling of lengthy and/or frequent disconnections</a:t>
            </a: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M-TCP splits as I-TCP does</a:t>
            </a:r>
          </a:p>
          <a:p>
            <a:pPr lvl="1"/>
            <a:r>
              <a:rPr lang="en-US" altLang="en-US" sz="2400" dirty="0">
                <a:latin typeface="Cambria" panose="02040503050406030204" pitchFamily="18" charset="0"/>
                <a:ea typeface="Cambria" panose="02040503050406030204" pitchFamily="18" charset="0"/>
              </a:rPr>
              <a:t>unmodified TCP fixed network to supervisory host (SH)</a:t>
            </a:r>
          </a:p>
          <a:p>
            <a:pPr lvl="1"/>
            <a:r>
              <a:rPr lang="en-US" altLang="en-US" sz="2400" dirty="0">
                <a:latin typeface="Cambria" panose="02040503050406030204" pitchFamily="18" charset="0"/>
                <a:ea typeface="Cambria" panose="02040503050406030204" pitchFamily="18" charset="0"/>
              </a:rPr>
              <a:t>optimized TCP SH to MH</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Supervisory host</a:t>
            </a:r>
          </a:p>
          <a:p>
            <a:pPr lvl="1"/>
            <a:r>
              <a:rPr lang="en-US" altLang="en-US" sz="2400" dirty="0">
                <a:latin typeface="Cambria" panose="02040503050406030204" pitchFamily="18" charset="0"/>
                <a:ea typeface="Cambria" panose="02040503050406030204" pitchFamily="18" charset="0"/>
              </a:rPr>
              <a:t>no caching, no retransmission</a:t>
            </a:r>
          </a:p>
          <a:p>
            <a:pPr lvl="1"/>
            <a:r>
              <a:rPr lang="en-US" altLang="en-US" sz="2400" dirty="0">
                <a:latin typeface="Cambria" panose="02040503050406030204" pitchFamily="18" charset="0"/>
                <a:ea typeface="Cambria" panose="02040503050406030204" pitchFamily="18" charset="0"/>
              </a:rPr>
              <a:t>monitors all packets, if disconnection detected</a:t>
            </a:r>
          </a:p>
          <a:p>
            <a:pPr lvl="2"/>
            <a:r>
              <a:rPr lang="en-US" altLang="en-US" sz="2400" dirty="0">
                <a:latin typeface="Cambria" panose="02040503050406030204" pitchFamily="18" charset="0"/>
                <a:ea typeface="Cambria" panose="02040503050406030204" pitchFamily="18" charset="0"/>
              </a:rPr>
              <a:t>set sender window size to 0</a:t>
            </a:r>
          </a:p>
          <a:p>
            <a:pPr lvl="2"/>
            <a:r>
              <a:rPr lang="en-US" altLang="en-US" sz="2400" dirty="0">
                <a:latin typeface="Cambria" panose="02040503050406030204" pitchFamily="18" charset="0"/>
                <a:ea typeface="Cambria" panose="02040503050406030204" pitchFamily="18" charset="0"/>
              </a:rPr>
              <a:t>sender automatically goes into persistent mode</a:t>
            </a:r>
          </a:p>
          <a:p>
            <a:pPr lvl="1"/>
            <a:r>
              <a:rPr lang="en-US" altLang="en-US" sz="2400" dirty="0">
                <a:latin typeface="Cambria" panose="02040503050406030204" pitchFamily="18" charset="0"/>
                <a:ea typeface="Cambria" panose="02040503050406030204" pitchFamily="18" charset="0"/>
              </a:rPr>
              <a:t>old or new SH reopen the window</a:t>
            </a: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Mobile 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3644477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2" y="926360"/>
            <a:ext cx="12314255"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latin typeface="Cambria" panose="02040503050406030204" pitchFamily="18" charset="0"/>
                <a:ea typeface="Cambria" panose="02040503050406030204" pitchFamily="18" charset="0"/>
              </a:rPr>
              <a:t>Advantages</a:t>
            </a:r>
          </a:p>
          <a:p>
            <a:pPr lvl="1"/>
            <a:r>
              <a:rPr lang="en-US" altLang="en-US" sz="2400" dirty="0">
                <a:latin typeface="Cambria" panose="02040503050406030204" pitchFamily="18" charset="0"/>
                <a:ea typeface="Cambria" panose="02040503050406030204" pitchFamily="18" charset="0"/>
              </a:rPr>
              <a:t>maintains semantics, supports disconnection, no buffer forwarding</a:t>
            </a:r>
          </a:p>
          <a:p>
            <a:r>
              <a:rPr lang="en-US" altLang="en-US" b="1" dirty="0">
                <a:latin typeface="Cambria" panose="02040503050406030204" pitchFamily="18" charset="0"/>
                <a:ea typeface="Cambria" panose="02040503050406030204" pitchFamily="18" charset="0"/>
              </a:rPr>
              <a:t>Disadvantages</a:t>
            </a:r>
          </a:p>
          <a:p>
            <a:pPr lvl="1"/>
            <a:r>
              <a:rPr lang="en-US" altLang="en-US" sz="2400" dirty="0">
                <a:latin typeface="Cambria" panose="02040503050406030204" pitchFamily="18" charset="0"/>
                <a:ea typeface="Cambria" panose="02040503050406030204" pitchFamily="18" charset="0"/>
              </a:rPr>
              <a:t>loss on wireless link propagated into fixed network</a:t>
            </a:r>
          </a:p>
          <a:p>
            <a:pPr lvl="1"/>
            <a:r>
              <a:rPr lang="en-US" altLang="en-US" sz="2400" dirty="0">
                <a:latin typeface="Cambria" panose="02040503050406030204" pitchFamily="18" charset="0"/>
                <a:ea typeface="Cambria" panose="02040503050406030204" pitchFamily="18" charset="0"/>
              </a:rPr>
              <a:t>adapted TCP on wireless link</a:t>
            </a:r>
          </a:p>
          <a:p>
            <a:endParaRPr lang="en-US" sz="2000"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109652" y="116444"/>
            <a:ext cx="9600000" cy="718170"/>
          </a:xfrm>
          <a:prstGeom prst="rect">
            <a:avLst/>
          </a:prstGeom>
          <a:noFill/>
          <a:ln>
            <a:noFill/>
          </a:ln>
        </p:spPr>
        <p:txBody>
          <a:bodyPr spcFirstLastPara="1" wrap="square" lIns="121900" tIns="121900" rIns="121900" bIns="121900" anchor="t" anchorCtr="0">
            <a:spAutoFit/>
          </a:bodyPr>
          <a:lstStyle/>
          <a:p>
            <a:r>
              <a:rPr lang="en-IN" sz="3067" dirty="0">
                <a:solidFill>
                  <a:srgbClr val="00A4B6"/>
                </a:solidFill>
                <a:latin typeface="Cambria" panose="02040503050406030204" pitchFamily="18" charset="0"/>
                <a:ea typeface="Cambria" panose="02040503050406030204" pitchFamily="18" charset="0"/>
              </a:rPr>
              <a:t>Mobile TCP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4245616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Change of foreign agent often results in packet loss </a:t>
            </a:r>
          </a:p>
          <a:p>
            <a:pPr lvl="1"/>
            <a:r>
              <a:rPr lang="en-US" altLang="en-US" sz="2400" dirty="0">
                <a:latin typeface="Cambria" panose="02040503050406030204" pitchFamily="18" charset="0"/>
                <a:ea typeface="Cambria" panose="02040503050406030204" pitchFamily="18" charset="0"/>
              </a:rPr>
              <a:t>TCP reacts with slow-start although there is no congestion</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Forced fast retransmit</a:t>
            </a:r>
          </a:p>
          <a:p>
            <a:pPr lvl="1"/>
            <a:r>
              <a:rPr lang="en-US" altLang="en-US" sz="2400" dirty="0">
                <a:latin typeface="Cambria" panose="02040503050406030204" pitchFamily="18" charset="0"/>
                <a:ea typeface="Cambria" panose="02040503050406030204" pitchFamily="18" charset="0"/>
              </a:rPr>
              <a:t>as soon as the mobile host has registered with a new foreign agent, the MH sends duplicated acknowledgements on purpose</a:t>
            </a:r>
          </a:p>
          <a:p>
            <a:pPr lvl="1"/>
            <a:r>
              <a:rPr lang="en-US" altLang="en-US" sz="2400" dirty="0">
                <a:latin typeface="Cambria" panose="02040503050406030204" pitchFamily="18" charset="0"/>
                <a:ea typeface="Cambria" panose="02040503050406030204" pitchFamily="18" charset="0"/>
              </a:rPr>
              <a:t>this forces the fast retransmit mode at the communication partners</a:t>
            </a:r>
          </a:p>
          <a:p>
            <a:pPr lvl="1"/>
            <a:r>
              <a:rPr lang="en-US" altLang="en-US" sz="2400" dirty="0">
                <a:latin typeface="Cambria" panose="02040503050406030204" pitchFamily="18" charset="0"/>
                <a:ea typeface="Cambria" panose="02040503050406030204" pitchFamily="18" charset="0"/>
              </a:rPr>
              <a:t>additionally, the TCP on the MH is forced to continue sending with the actual window size and not to go into slow-start after registration</a:t>
            </a: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Fast retransmit/fast recovery</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3435094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latin typeface="Cambria" panose="02040503050406030204" pitchFamily="18" charset="0"/>
                <a:ea typeface="Cambria" panose="02040503050406030204" pitchFamily="18" charset="0"/>
              </a:rPr>
              <a:t>Advantage</a:t>
            </a:r>
          </a:p>
          <a:p>
            <a:pPr lvl="1"/>
            <a:r>
              <a:rPr lang="en-US" altLang="en-US" sz="2400" dirty="0">
                <a:latin typeface="Cambria" panose="02040503050406030204" pitchFamily="18" charset="0"/>
                <a:ea typeface="Cambria" panose="02040503050406030204" pitchFamily="18" charset="0"/>
              </a:rPr>
              <a:t>simple changes result in significant higher performance</a:t>
            </a:r>
          </a:p>
          <a:p>
            <a:pPr marL="457200" lvl="1" indent="0">
              <a:buNone/>
            </a:pPr>
            <a:r>
              <a:rPr lang="en-US" altLang="en-US" sz="2400" dirty="0">
                <a:latin typeface="Cambria" panose="02040503050406030204" pitchFamily="18" charset="0"/>
                <a:ea typeface="Cambria" panose="02040503050406030204" pitchFamily="18" charset="0"/>
              </a:rPr>
              <a:t> </a:t>
            </a:r>
          </a:p>
          <a:p>
            <a:r>
              <a:rPr lang="en-US" altLang="en-US" b="1" dirty="0">
                <a:latin typeface="Cambria" panose="02040503050406030204" pitchFamily="18" charset="0"/>
                <a:ea typeface="Cambria" panose="02040503050406030204" pitchFamily="18" charset="0"/>
              </a:rPr>
              <a:t>Disadvantage</a:t>
            </a:r>
          </a:p>
          <a:p>
            <a:pPr lvl="1"/>
            <a:r>
              <a:rPr lang="en-US" altLang="en-US" sz="2400" dirty="0">
                <a:latin typeface="Cambria" panose="02040503050406030204" pitchFamily="18" charset="0"/>
                <a:ea typeface="Cambria" panose="02040503050406030204" pitchFamily="18" charset="0"/>
              </a:rPr>
              <a:t>further mix of IP and TCP, no transparent approach</a:t>
            </a:r>
          </a:p>
          <a:p>
            <a:endParaRPr lang="en-US" sz="2000"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Fast retransmit/fast recovery</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407650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Mobile hosts can be disconnected for a longer time</a:t>
            </a:r>
          </a:p>
          <a:p>
            <a:pPr lvl="1"/>
            <a:r>
              <a:rPr lang="en-US" altLang="en-US" sz="2400" dirty="0">
                <a:latin typeface="Cambria" panose="02040503050406030204" pitchFamily="18" charset="0"/>
                <a:ea typeface="Cambria" panose="02040503050406030204" pitchFamily="18" charset="0"/>
              </a:rPr>
              <a:t>no packet exchange possible, e.g., in a tunnel, disconnection due to overloaded cells or mux. with higher priority traffic</a:t>
            </a:r>
          </a:p>
          <a:p>
            <a:pPr lvl="1"/>
            <a:r>
              <a:rPr lang="en-US" altLang="en-US" sz="2400" dirty="0">
                <a:latin typeface="Cambria" panose="02040503050406030204" pitchFamily="18" charset="0"/>
                <a:ea typeface="Cambria" panose="02040503050406030204" pitchFamily="18" charset="0"/>
              </a:rPr>
              <a:t>TCP disconnects after time-out completely</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TCP freezing</a:t>
            </a:r>
          </a:p>
          <a:p>
            <a:pPr lvl="1"/>
            <a:r>
              <a:rPr lang="en-US" altLang="en-US" sz="2400" dirty="0">
                <a:latin typeface="Cambria" panose="02040503050406030204" pitchFamily="18" charset="0"/>
                <a:ea typeface="Cambria" panose="02040503050406030204" pitchFamily="18" charset="0"/>
              </a:rPr>
              <a:t>MAC layer is often able to detect interruption in advance</a:t>
            </a:r>
          </a:p>
          <a:p>
            <a:pPr lvl="1"/>
            <a:r>
              <a:rPr lang="en-US" altLang="en-US" sz="2400" dirty="0">
                <a:latin typeface="Cambria" panose="02040503050406030204" pitchFamily="18" charset="0"/>
                <a:ea typeface="Cambria" panose="02040503050406030204" pitchFamily="18" charset="0"/>
              </a:rPr>
              <a:t>MAC can inform TCP layer of upcoming loss of connection</a:t>
            </a:r>
          </a:p>
          <a:p>
            <a:pPr lvl="1"/>
            <a:r>
              <a:rPr lang="en-US" altLang="en-US" sz="2400" dirty="0">
                <a:latin typeface="Cambria" panose="02040503050406030204" pitchFamily="18" charset="0"/>
                <a:ea typeface="Cambria" panose="02040503050406030204" pitchFamily="18" charset="0"/>
              </a:rPr>
              <a:t>TCP stops sending, but does now not assume a congested link </a:t>
            </a:r>
          </a:p>
          <a:p>
            <a:pPr lvl="1"/>
            <a:r>
              <a:rPr lang="en-US" altLang="en-US" sz="2400" dirty="0">
                <a:latin typeface="Cambria" panose="02040503050406030204" pitchFamily="18" charset="0"/>
                <a:ea typeface="Cambria" panose="02040503050406030204" pitchFamily="18" charset="0"/>
              </a:rPr>
              <a:t>MAC layer signals again if reconnected</a:t>
            </a: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Transmission/time-out freezing</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357706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latin typeface="Cambria" panose="02040503050406030204" pitchFamily="18" charset="0"/>
                <a:ea typeface="Cambria" panose="02040503050406030204" pitchFamily="18" charset="0"/>
              </a:rPr>
              <a:t>Advantage</a:t>
            </a:r>
          </a:p>
          <a:p>
            <a:pPr lvl="1"/>
            <a:r>
              <a:rPr lang="en-US" altLang="en-US" sz="2400" dirty="0">
                <a:latin typeface="Cambria" panose="02040503050406030204" pitchFamily="18" charset="0"/>
                <a:ea typeface="Cambria" panose="02040503050406030204" pitchFamily="18" charset="0"/>
              </a:rPr>
              <a:t>scheme is independent of data </a:t>
            </a:r>
          </a:p>
          <a:p>
            <a:r>
              <a:rPr lang="en-US" altLang="en-US" b="1" dirty="0">
                <a:latin typeface="Cambria" panose="02040503050406030204" pitchFamily="18" charset="0"/>
                <a:ea typeface="Cambria" panose="02040503050406030204" pitchFamily="18" charset="0"/>
              </a:rPr>
              <a:t>Disadvantage</a:t>
            </a:r>
          </a:p>
          <a:p>
            <a:pPr lvl="1"/>
            <a:r>
              <a:rPr lang="en-US" altLang="en-US" sz="2400" dirty="0">
                <a:latin typeface="Cambria" panose="02040503050406030204" pitchFamily="18" charset="0"/>
                <a:ea typeface="Cambria" panose="02040503050406030204" pitchFamily="18" charset="0"/>
              </a:rPr>
              <a:t>TCP on mobile host has to be changed, mechanism depends on MAC layer</a:t>
            </a:r>
            <a:endParaRPr lang="en-US" sz="2400"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Transmission/time-out freezing</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1024671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TCP acknowledgements are often cumulative</a:t>
            </a:r>
          </a:p>
          <a:p>
            <a:pPr lvl="1"/>
            <a:r>
              <a:rPr lang="en-US" altLang="en-US" sz="2400" dirty="0">
                <a:latin typeface="Cambria" panose="02040503050406030204" pitchFamily="18" charset="0"/>
                <a:ea typeface="Cambria" panose="02040503050406030204" pitchFamily="18" charset="0"/>
              </a:rPr>
              <a:t>ACK n acknowledges correct and in-sequence receipt of packets up to n</a:t>
            </a:r>
          </a:p>
          <a:p>
            <a:pPr lvl="1"/>
            <a:r>
              <a:rPr lang="en-US" altLang="en-US" sz="2400" dirty="0">
                <a:latin typeface="Cambria" panose="02040503050406030204" pitchFamily="18" charset="0"/>
                <a:ea typeface="Cambria" panose="02040503050406030204" pitchFamily="18" charset="0"/>
              </a:rPr>
              <a:t>if single packets are missing quite often a whole packet sequence beginning at the gap has to be retransmitted (go-back-n), thus wasting bandwidth</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Selective retransmission as one solution</a:t>
            </a:r>
          </a:p>
          <a:p>
            <a:pPr lvl="1"/>
            <a:r>
              <a:rPr lang="en-US" altLang="en-US" sz="2400" dirty="0">
                <a:latin typeface="Cambria" panose="02040503050406030204" pitchFamily="18" charset="0"/>
                <a:ea typeface="Cambria" panose="02040503050406030204" pitchFamily="18" charset="0"/>
              </a:rPr>
              <a:t>RFC2018 allows for acknowledgements of single packets, not only acknowledgements of in-sequence packet streams without gaps</a:t>
            </a:r>
          </a:p>
          <a:p>
            <a:pPr lvl="1"/>
            <a:r>
              <a:rPr lang="en-US" altLang="en-US" sz="2400" dirty="0">
                <a:latin typeface="Cambria" panose="02040503050406030204" pitchFamily="18" charset="0"/>
                <a:ea typeface="Cambria" panose="02040503050406030204" pitchFamily="18" charset="0"/>
              </a:rPr>
              <a:t>sender can now retransmit only the missing packets</a:t>
            </a: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Selective retransmission</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550366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latin typeface="Cambria" panose="02040503050406030204" pitchFamily="18" charset="0"/>
                <a:ea typeface="Cambria" panose="02040503050406030204" pitchFamily="18" charset="0"/>
              </a:rPr>
              <a:t>Advantage</a:t>
            </a:r>
          </a:p>
          <a:p>
            <a:pPr lvl="1"/>
            <a:r>
              <a:rPr lang="en-US" altLang="en-US" sz="2400" dirty="0">
                <a:latin typeface="Cambria" panose="02040503050406030204" pitchFamily="18" charset="0"/>
                <a:ea typeface="Cambria" panose="02040503050406030204" pitchFamily="18" charset="0"/>
              </a:rPr>
              <a:t>much higher efficiency</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b="1" dirty="0">
                <a:latin typeface="Cambria" panose="02040503050406030204" pitchFamily="18" charset="0"/>
                <a:ea typeface="Cambria" panose="02040503050406030204" pitchFamily="18" charset="0"/>
              </a:rPr>
              <a:t>Disadvantage</a:t>
            </a:r>
          </a:p>
          <a:p>
            <a:pPr lvl="1"/>
            <a:r>
              <a:rPr lang="en-US" altLang="en-US" sz="2400" dirty="0">
                <a:latin typeface="Cambria" panose="02040503050406030204" pitchFamily="18" charset="0"/>
                <a:ea typeface="Cambria" panose="02040503050406030204" pitchFamily="18" charset="0"/>
              </a:rPr>
              <a:t>more complex software in a receiver, more buffer needed at the receiver</a:t>
            </a:r>
          </a:p>
          <a:p>
            <a:endParaRPr lang="en-US" sz="2400"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Selective retransmission</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974707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mbria" panose="02040503050406030204" pitchFamily="18" charset="0"/>
                <a:ea typeface="Cambria" panose="02040503050406030204" pitchFamily="18" charset="0"/>
              </a:rPr>
              <a:t>TCP phases</a:t>
            </a:r>
          </a:p>
          <a:p>
            <a:pPr lvl="1"/>
            <a:r>
              <a:rPr lang="en-US" altLang="en-US" sz="2400" dirty="0">
                <a:latin typeface="Cambria" panose="02040503050406030204" pitchFamily="18" charset="0"/>
                <a:ea typeface="Cambria" panose="02040503050406030204" pitchFamily="18" charset="0"/>
              </a:rPr>
              <a:t>connection setup, data transmission, connection release </a:t>
            </a:r>
          </a:p>
          <a:p>
            <a:pPr lvl="1"/>
            <a:r>
              <a:rPr lang="en-US" altLang="en-US" sz="2400" dirty="0">
                <a:latin typeface="Cambria" panose="02040503050406030204" pitchFamily="18" charset="0"/>
                <a:ea typeface="Cambria" panose="02040503050406030204" pitchFamily="18" charset="0"/>
              </a:rPr>
              <a:t>using 3-way-handshake needs 3 packets for setup and release, respectively</a:t>
            </a:r>
          </a:p>
          <a:p>
            <a:pPr lvl="1"/>
            <a:r>
              <a:rPr lang="en-US" altLang="en-US" sz="2400" dirty="0">
                <a:latin typeface="Cambria" panose="02040503050406030204" pitchFamily="18" charset="0"/>
                <a:ea typeface="Cambria" panose="02040503050406030204" pitchFamily="18" charset="0"/>
              </a:rPr>
              <a:t>thus, even short messages need a minimum of 7 packets!</a:t>
            </a:r>
          </a:p>
          <a:p>
            <a:pPr lvl="1"/>
            <a:endParaRPr lang="en-US" altLang="en-US" sz="2400"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Transaction oriented TCP</a:t>
            </a:r>
          </a:p>
          <a:p>
            <a:pPr lvl="1"/>
            <a:r>
              <a:rPr lang="en-US" altLang="en-US" sz="2400" dirty="0">
                <a:latin typeface="Cambria" panose="02040503050406030204" pitchFamily="18" charset="0"/>
                <a:ea typeface="Cambria" panose="02040503050406030204" pitchFamily="18" charset="0"/>
              </a:rPr>
              <a:t>RFC1644, T-TCP, describes a TCP version to avoid this overhead</a:t>
            </a:r>
          </a:p>
          <a:p>
            <a:pPr lvl="1"/>
            <a:r>
              <a:rPr lang="en-US" altLang="en-US" sz="2400" dirty="0">
                <a:latin typeface="Cambria" panose="02040503050406030204" pitchFamily="18" charset="0"/>
                <a:ea typeface="Cambria" panose="02040503050406030204" pitchFamily="18" charset="0"/>
              </a:rPr>
              <a:t>connection setup, data transfer and connection release can be combined</a:t>
            </a:r>
          </a:p>
          <a:p>
            <a:pPr lvl="1"/>
            <a:r>
              <a:rPr lang="en-US" altLang="en-US" sz="2400" dirty="0">
                <a:latin typeface="Cambria" panose="02040503050406030204" pitchFamily="18" charset="0"/>
                <a:ea typeface="Cambria" panose="02040503050406030204" pitchFamily="18" charset="0"/>
              </a:rPr>
              <a:t>thus, only 2 or 3 packets are needed</a:t>
            </a: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Transaction oriented TCP</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3258895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385" y="6334"/>
            <a:ext cx="12179300" cy="6845300"/>
          </a:xfrm>
          <a:prstGeom prst="rect">
            <a:avLst/>
          </a:prstGeom>
          <a:noFill/>
          <a:ln>
            <a:noFill/>
          </a:ln>
        </p:spPr>
      </p:pic>
      <p:pic>
        <p:nvPicPr>
          <p:cNvPr id="67" name="Google Shape;67;p15"/>
          <p:cNvPicPr preferRelativeResize="0"/>
          <p:nvPr/>
        </p:nvPicPr>
        <p:blipFill>
          <a:blip r:embed="rId4">
            <a:alphaModFix/>
          </a:blip>
          <a:stretch>
            <a:fillRect/>
          </a:stretch>
        </p:blipFill>
        <p:spPr>
          <a:xfrm>
            <a:off x="-9891" y="0"/>
            <a:ext cx="12201891" cy="6858000"/>
          </a:xfrm>
          <a:prstGeom prst="rect">
            <a:avLst/>
          </a:prstGeom>
          <a:noFill/>
          <a:ln>
            <a:noFill/>
          </a:ln>
        </p:spPr>
      </p:pic>
      <p:pic>
        <p:nvPicPr>
          <p:cNvPr id="68" name="Google Shape;68;p15"/>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9" name="Content Placeholder 4">
            <a:extLst>
              <a:ext uri="{FF2B5EF4-FFF2-40B4-BE49-F238E27FC236}">
                <a16:creationId xmlns:a16="http://schemas.microsoft.com/office/drawing/2014/main" xmlns="" id="{BC605231-8325-8A11-93BF-5BBB83A916C5}"/>
              </a:ext>
            </a:extLst>
          </p:cNvPr>
          <p:cNvSpPr txBox="1">
            <a:spLocks/>
          </p:cNvSpPr>
          <p:nvPr/>
        </p:nvSpPr>
        <p:spPr>
          <a:xfrm>
            <a:off x="135653" y="926360"/>
            <a:ext cx="11676166" cy="59069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5430AA"/>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5430AA"/>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5430AA"/>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5430AA"/>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a:latin typeface="Cambria" panose="02040503050406030204" pitchFamily="18" charset="0"/>
                <a:ea typeface="Cambria" panose="02040503050406030204" pitchFamily="18" charset="0"/>
              </a:rPr>
              <a:t>Advantage</a:t>
            </a:r>
          </a:p>
          <a:p>
            <a:pPr lvl="1"/>
            <a:r>
              <a:rPr lang="en-US" altLang="en-US" sz="2400" dirty="0">
                <a:latin typeface="Cambria" panose="02040503050406030204" pitchFamily="18" charset="0"/>
                <a:ea typeface="Cambria" panose="02040503050406030204" pitchFamily="18" charset="0"/>
              </a:rPr>
              <a:t>Efficiency</a:t>
            </a:r>
          </a:p>
          <a:p>
            <a:pPr marL="457200" lvl="1" indent="0">
              <a:buNone/>
            </a:pPr>
            <a:endParaRPr lang="en-US" altLang="en-US" sz="2400" dirty="0">
              <a:latin typeface="Cambria" panose="02040503050406030204" pitchFamily="18" charset="0"/>
              <a:ea typeface="Cambria" panose="02040503050406030204" pitchFamily="18" charset="0"/>
            </a:endParaRPr>
          </a:p>
          <a:p>
            <a:r>
              <a:rPr lang="en-US" altLang="en-US" b="1" dirty="0">
                <a:latin typeface="Cambria" panose="02040503050406030204" pitchFamily="18" charset="0"/>
                <a:ea typeface="Cambria" panose="02040503050406030204" pitchFamily="18" charset="0"/>
              </a:rPr>
              <a:t>Disadvantage</a:t>
            </a:r>
          </a:p>
          <a:p>
            <a:pPr lvl="1"/>
            <a:r>
              <a:rPr lang="en-US" altLang="en-US" sz="2400" dirty="0">
                <a:latin typeface="Cambria" panose="02040503050406030204" pitchFamily="18" charset="0"/>
                <a:ea typeface="Cambria" panose="02040503050406030204" pitchFamily="18" charset="0"/>
              </a:rPr>
              <a:t>requires changed TCP</a:t>
            </a:r>
          </a:p>
          <a:p>
            <a:pPr lvl="1"/>
            <a:r>
              <a:rPr lang="en-US" altLang="en-US" sz="2400" dirty="0">
                <a:latin typeface="Cambria" panose="02040503050406030204" pitchFamily="18" charset="0"/>
                <a:ea typeface="Cambria" panose="02040503050406030204" pitchFamily="18" charset="0"/>
              </a:rPr>
              <a:t>mobility not longer transparent </a:t>
            </a:r>
          </a:p>
          <a:p>
            <a:endParaRPr lang="en-US" sz="2400" dirty="0">
              <a:latin typeface="Cambria" panose="02040503050406030204" pitchFamily="18" charset="0"/>
              <a:ea typeface="Cambria" panose="02040503050406030204" pitchFamily="18" charset="0"/>
            </a:endParaRPr>
          </a:p>
        </p:txBody>
      </p:sp>
      <p:sp>
        <p:nvSpPr>
          <p:cNvPr id="3" name="Google Shape;69;p15">
            <a:extLst>
              <a:ext uri="{FF2B5EF4-FFF2-40B4-BE49-F238E27FC236}">
                <a16:creationId xmlns:a16="http://schemas.microsoft.com/office/drawing/2014/main" xmlns="" id="{7BE8DE0F-DA5C-6E00-349E-5CCC8884BDF6}"/>
              </a:ext>
            </a:extLst>
          </p:cNvPr>
          <p:cNvSpPr txBox="1"/>
          <p:nvPr/>
        </p:nvSpPr>
        <p:spPr>
          <a:xfrm>
            <a:off x="217918" y="-32"/>
            <a:ext cx="9600000" cy="718170"/>
          </a:xfrm>
          <a:prstGeom prst="rect">
            <a:avLst/>
          </a:prstGeom>
          <a:noFill/>
          <a:ln>
            <a:noFill/>
          </a:ln>
        </p:spPr>
        <p:txBody>
          <a:bodyPr spcFirstLastPara="1" wrap="square" lIns="121900" tIns="121900" rIns="121900" bIns="121900" anchor="t" anchorCtr="0">
            <a:spAutoFit/>
          </a:bodyPr>
          <a:lstStyle/>
          <a:p>
            <a:r>
              <a:rPr lang="en-US" altLang="en-US" sz="3067" dirty="0">
                <a:solidFill>
                  <a:srgbClr val="00A4B6"/>
                </a:solidFill>
                <a:latin typeface="Cambria" panose="02040503050406030204" pitchFamily="18" charset="0"/>
                <a:ea typeface="Cambria" panose="02040503050406030204" pitchFamily="18" charset="0"/>
              </a:rPr>
              <a:t>Transaction oriented TCP</a:t>
            </a:r>
            <a:r>
              <a:rPr lang="en-IN" sz="3067" dirty="0">
                <a:solidFill>
                  <a:srgbClr val="00A4B6"/>
                </a:solidFill>
                <a:latin typeface="Cambria" panose="02040503050406030204" pitchFamily="18" charset="0"/>
                <a:ea typeface="Cambria" panose="02040503050406030204" pitchFamily="18" charset="0"/>
              </a:rPr>
              <a:t>     </a:t>
            </a:r>
            <a:endParaRPr sz="3067" dirty="0">
              <a:solidFill>
                <a:srgbClr val="00A4B6"/>
              </a:solidFill>
              <a:latin typeface="Cambria" panose="02040503050406030204" pitchFamily="18" charset="0"/>
              <a:ea typeface="Cambria" panose="02040503050406030204" pitchFamily="18" charset="0"/>
              <a:sym typeface="Proxima Nova"/>
            </a:endParaRPr>
          </a:p>
        </p:txBody>
      </p:sp>
    </p:spTree>
    <p:extLst>
      <p:ext uri="{BB962C8B-B14F-4D97-AF65-F5344CB8AC3E}">
        <p14:creationId xmlns:p14="http://schemas.microsoft.com/office/powerpoint/2010/main" xmlns="" val="150886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27"/>
          <p:cNvPicPr preferRelativeResize="0"/>
          <p:nvPr/>
        </p:nvPicPr>
        <p:blipFill>
          <a:blip r:embed="rId3">
            <a:alphaModFix/>
          </a:blip>
          <a:stretch>
            <a:fillRect/>
          </a:stretch>
        </p:blipFill>
        <p:spPr>
          <a:xfrm>
            <a:off x="0" y="1"/>
            <a:ext cx="12192000" cy="6852444"/>
          </a:xfrm>
          <a:prstGeom prst="rect">
            <a:avLst/>
          </a:prstGeom>
          <a:noFill/>
          <a:ln>
            <a:noFill/>
          </a:ln>
        </p:spPr>
      </p:pic>
      <p:pic>
        <p:nvPicPr>
          <p:cNvPr id="233" name="Google Shape;233;p27"/>
          <p:cNvPicPr preferRelativeResize="0"/>
          <p:nvPr/>
        </p:nvPicPr>
        <p:blipFill>
          <a:blip r:embed="rId4">
            <a:alphaModFix/>
          </a:blip>
          <a:stretch>
            <a:fillRect/>
          </a:stretch>
        </p:blipFill>
        <p:spPr>
          <a:xfrm>
            <a:off x="6351" y="6334"/>
            <a:ext cx="12179300" cy="6845300"/>
          </a:xfrm>
          <a:prstGeom prst="rect">
            <a:avLst/>
          </a:prstGeom>
          <a:noFill/>
          <a:ln>
            <a:noFill/>
          </a:ln>
        </p:spPr>
      </p:pic>
      <p:pic>
        <p:nvPicPr>
          <p:cNvPr id="238" name="Google Shape;238;p27"/>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2" name="TextBox 1">
            <a:extLst>
              <a:ext uri="{FF2B5EF4-FFF2-40B4-BE49-F238E27FC236}">
                <a16:creationId xmlns:a16="http://schemas.microsoft.com/office/drawing/2014/main" xmlns="" id="{0681B4C3-A655-3DF8-0C46-F4245930F0CF}"/>
              </a:ext>
            </a:extLst>
          </p:cNvPr>
          <p:cNvSpPr txBox="1"/>
          <p:nvPr/>
        </p:nvSpPr>
        <p:spPr>
          <a:xfrm rot="20350206">
            <a:off x="7005235" y="2887678"/>
            <a:ext cx="1901125" cy="1405641"/>
          </a:xfrm>
          <a:prstGeom prst="rect">
            <a:avLst/>
          </a:prstGeom>
          <a:noFill/>
        </p:spPr>
        <p:txBody>
          <a:bodyPr wrap="square" rtlCol="0">
            <a:spAutoFit/>
          </a:bodyPr>
          <a:lstStyle/>
          <a:p>
            <a:pPr algn="ctr"/>
            <a:r>
              <a:rPr lang="en-IN" sz="4267" b="1" dirty="0">
                <a:solidFill>
                  <a:srgbClr val="00B0F0"/>
                </a:solidFill>
                <a:latin typeface="Comic Sans MS" panose="030F0702030302020204" pitchFamily="66" charset="0"/>
              </a:rPr>
              <a:t>Thank</a:t>
            </a:r>
          </a:p>
          <a:p>
            <a:pPr algn="ctr"/>
            <a:r>
              <a:rPr lang="en-IN" sz="4267" b="1" dirty="0">
                <a:solidFill>
                  <a:srgbClr val="00B0F0"/>
                </a:solidFill>
                <a:latin typeface="Comic Sans MS" panose="030F0702030302020204" pitchFamily="66" charset="0"/>
              </a:rPr>
              <a:t>You</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5675</TotalTime>
  <Words>1758</Words>
  <Application>Microsoft Office PowerPoint</Application>
  <PresentationFormat>Custom</PresentationFormat>
  <Paragraphs>223</Paragraphs>
  <Slides>35</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Proxima Nova</vt:lpstr>
      <vt:lpstr>Cambria</vt:lpstr>
      <vt:lpstr>Wingdings 3</vt:lpstr>
      <vt:lpstr>Wingdings</vt:lpstr>
      <vt:lpstr>Comic Sans MS</vt:lpstr>
      <vt:lpstr>Simple Light</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HP</cp:lastModifiedBy>
  <cp:revision>978</cp:revision>
  <dcterms:modified xsi:type="dcterms:W3CDTF">2023-08-28T07:30:46Z</dcterms:modified>
</cp:coreProperties>
</file>